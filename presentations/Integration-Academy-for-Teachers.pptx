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e5f5f4f2-b776-8636-539c-3d9fac2ba9c7}">
          <p14:sldIdLst>
            <p14:sldId id="256"/>
            <p14:sldId id="257"/>
            <p14:sldId id="258"/>
          </p14:sldIdLst>
        </p14:section>
        <p14:section name="For students" id="{a9312fa3-2be6-8fab-28ff-0baeb9541e08}">
          <p14:sldIdLst>
            <p14:sldId id="259"/>
            <p14:sldId id="260"/>
            <p14:sldId id="261"/>
          </p14:sldIdLst>
        </p14:section>
        <p14:section name="For teachers" id="{95629972-6ed2-613a-50b3-ce0fc1e3d44b}">
          <p14:sldIdLst>
            <p14:sldId id="262"/>
            <p14:sldId id="263"/>
            <p14:sldId id="264"/>
            <p14:sldId id="265"/>
            <p14:sldId id="266"/>
            <p14:sldId id="267"/>
          </p14:sldIdLst>
        </p14:section>
        <p14:section name="For parents" id="{a86c8348-7ea9-6c34-64f1-7caa66e44309}">
          <p14:sldIdLst>
            <p14:sldId id="268"/>
          </p14:sldIdLst>
        </p14:section>
        <p14:section name="The offer" id="{a3fe5df7-5ebb-0857-27e1-9015ecef6804}">
          <p14:sldIdLst>
            <p14:sldId id="269"/>
            <p14:sldId id="270"/>
            <p14:sldId id="271"/>
            <p14:sldId id="272"/>
          </p14:sldIdLst>
        </p14:section>
        <p14:section name="Default-1" id="{d3a33ba5-38e2-19d9-a952-92bbe0f660b7}">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In about thirty minutes I will show you Integration Academy: two websites that work together. integrationacademy.org covers Kindergarten to Grade 8 and integrationacademy.ca covers Grades 9 to 12. I will cover what students, teachers and parents get, how it makes a teacher’s work easier, and the free first year we would like to offer. Fill in the board name and your name on this slide before presenting.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how the two sites fit together. The .org site is for Kindergarten to Grade 8 and is organised by Ontario curriculum expectation. The .ca site is for Grades 9 to 12 and is organised by course code, from Grade 9 MTH1W up to Grade 12 Calculus and Data Management. They share the same approach, so a student moves from one to the other without learning a new system. A board can use one or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counts come from the two databases in October 2026. The K to 8 site has practice games for 349 curriculum expectations across five strands, 1,257 games in all. The Grade 9 to 12 site has sixteen complete courses, more than 640 lessons, more than 25,000 practice questions and more than 600 worksheets. Use them to answer the question “is there enough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Kindergarten to Grade 8 site. Everything is organised by Ontario curriculum expectation across the five strands of the 2020 curriculum: Number, Algebra, Data, Spatial Sense and Financial Literacy. Every topic is a complete lesson with a short animated video, picture-based concept slides, and a printable worksheet in three levels. Students can also complete the worksheet online and get automatic marking.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is what makes learning stick, so it has to be something students want to do. Every expectation has games at three levels, so a student who finds a topic hard can start on Easy and work up. The arcade-style games are quick and replayable. For Grades 3 and 6 there is EQAO preparation with timed practice sets across all five strands. The K to 8 site is fully available in English and French.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Grades 9 to 12 the platform is organised by course. Every Ontario senior course teachers ask about is here, plus AP Calculus AB, IB Analysis and Approaches SL, and the Florida and FTCE courses that were added for a second market. Students get interactive lessons with graphs they can move, a question bank with auto-marking, printable worksheets with solutions, and short games for the basics. French-language courses on the 9 to 12 site are in progress and not complete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K to 8 teacher, the lessons are ready to teach. Present the slides from the site or download them as PowerPoint or PDF. Worksheets can be completed online and are marked automatically. Students join with a class code or a QR poster. You unlock topics as you teach them, so students do not run ahead, and you can run live quick quizzes in class to see who understands right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teachers save time. For every student and every topic you can see whether the video was watched, the slides viewed, the worksheet submitted, the quiz completed and the games played, with an overall grade on the Ontario Levels 1 to 4 scale. Any submitted worksheet or quiz can be opened to see each answer and mistake.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Grade 9 to 12 teacher side. Create or claim a class and give students the join code. Choose which lessons and quizzes your class sees. Build quizzes from the question bank and assign work with written feedback. For long answers the AI drafts a mark for each question, but it never sets the grade: the teacher decides. Progress is available for each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you can use in front of a class tomorrow. The graphing calculator needs no installation. The whiteboard lets you draw and type real math, add a graph, and press Go live so students can follow a read-only link on their own devices. Present mode turns a lesson into a narrated slideshow, so the projector shows exactly what students will read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answers “what is in it for me?”. Go row by row. Planning: each lesson is ready to teach. Practice: games at three levels on the K to 8 site and a question bank on the 9 to 12 site. Marking: worksheets and quizzes mark themselves, and you can still open any submission. Tracking: progress by student and topic. Reporting: printable parent reports and weekly emails. Do not promise a number of hours; invite teachers to try one unit and judge for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a unit looks like. Students join with your class code. You teach the lesson or project the slides. Students practise with worksheets, games and the question bank, then check themselves with an auto-graded quiz or an assignment. You review results and progress and give feedback. The same path works for a student who was absent, or who wants to review at home.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Parents stay informed without extra work for the teacher. Reports can be printed, and private share links can be customised by section and by time period. Each week the site can email parents a summary of their child’s work, with an optional note from the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offer plainly. The first year is free for participating classrooms on both sites. We help set up the classes and run a short training session for the teachers who take part. And there is no commitment to continue after the first year. Add any limits you have decided on, such as which schools, grades or courses are included, and the start and end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steps on each site. On the K to 8 site: create a teacher account, create a class and share the class code or QR poster, unlock the first topic, then teach the slides and set the worksheet and a quick quiz. On the Grade 9 to 12 site: create an account, choose your course, set up a class and share the join code, then assign a lesson and build a quiz from the bank. Each site has a Help page with a guide. For participating schools we will also help set up classes and offer a short training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transparency: the first year is free and there is no commitment. If a teacher or board asks what continuing would cost, these are the prices on the two pricing pages today. Please check both pages before presenting in case anything has changed, and confirm the currency you want to state. Skip this slide if the audience only wants to talk about the free year.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one clear invitation: a 30-minute presentation, online or in person, for the superintendent, math leads or digital learning team, followed by questions. Fill in your name, phone number and the days and times you are available before presenting or sending the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Invite the room to pick the next unit they teach and try it with one class, on the K to 8 site or the Grade 9 to 12 site. Keep both live sites open in other tabs so you can show a lesson, the games or the teacher dashboard on request, then open the floor for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EEF2E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73168"/>
            <a:ext cx="5486400" cy="256032"/>
          </a:xfrm>
          <a:prstGeom prst="rect">
            <a:avLst/>
          </a:prstGeom>
          <a:noFill/>
          <a:ln/>
        </p:spPr>
        <p:txBody>
          <a:bodyPr wrap="square" lIns="0" tIns="0" rIns="0" bIns="0" rtlCol="0" anchor="ctr"/>
          <a:lstStyle/>
          <a:p>
            <a:pPr indent="0" marL="0">
              <a:buNone/>
            </a:pPr>
            <a:r>
              <a:rPr lang="en-US" sz="1000" dirty="0">
                <a:solidFill>
                  <a:schemeClr val="accent5"/>
                </a:solidFill>
              </a:rPr>
              <a:t>Integration Academy · for teachers</a:t>
            </a:r>
            <a:endParaRPr lang="en-US" sz="10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B1F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457200" y="4773168"/>
            <a:ext cx="5486400" cy="256032"/>
          </a:xfrm>
          <a:prstGeom prst="rect">
            <a:avLst/>
          </a:prstGeom>
          <a:noFill/>
          <a:ln/>
        </p:spPr>
        <p:txBody>
          <a:bodyPr wrap="square" lIns="0" tIns="0" rIns="0" bIns="0" rtlCol="0" anchor="ctr"/>
          <a:lstStyle/>
          <a:p>
            <a:pPr indent="0" marL="0">
              <a:buNone/>
            </a:pPr>
            <a:r>
              <a:rPr lang="en-US" sz="1000" dirty="0">
                <a:solidFill>
                  <a:srgbClr val="B7D4C2"/>
                </a:solidFill>
              </a:rPr>
              <a:t>Integration Academy · for teachers</a:t>
            </a:r>
            <a:endParaRPr lang="en-US" sz="10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7D4C2"/>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bg>
      <p:bgPr>
        <a:solidFill>
          <a:srgbClr val="0B1F17"/>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4937760" cy="137160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2697480"/>
            <a:ext cx="4937760" cy="822960"/>
          </a:xfrm>
          <a:prstGeom prst="rect">
            <a:avLst/>
          </a:prstGeom>
          <a:noFill/>
          <a:ln/>
        </p:spPr>
        <p:txBody>
          <a:bodyPr wrap="square" rtlCol="0"/>
          <a:lstStyle>
            <a:lvl1pPr indent="0" marL="0">
              <a:buNone/>
              <a:defRPr lang="en-US" sz="1800" dirty="0">
                <a:solidFill>
                  <a:srgbClr val="B7D4C2"/>
                </a:solidFill>
              </a:defRPr>
            </a:lvl1pPr>
          </a:lstStyle>
          <a:p>
            <a:pPr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2.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slideLayout" Target="../slideLayouts/slideLayout2.xml"/><Relationship Id="rId8"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2.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3.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4937760" cy="1371600"/>
          </a:xfrm>
          <a:prstGeom prst="rect">
            <a:avLst/>
          </a:prstGeom>
          <a:noFill/>
          <a:ln/>
        </p:spPr>
        <p:txBody>
          <a:bodyPr wrap="square" lIns="0" tIns="0" rIns="0" bIns="0" rtlCol="0" anchor="t"/>
          <a:lstStyle/>
          <a:p>
            <a:pPr algn="l" indent="0" marL="0">
              <a:buNone/>
            </a:pPr>
            <a:r>
              <a:rPr lang="en-US" sz="4400" b="1" dirty="0">
                <a:solidFill>
                  <a:schemeClr val="bg1"/>
                </a:solidFill>
              </a:rPr>
              <a:t>Integration Academy</a:t>
            </a:r>
            <a:endParaRPr lang="en-US" sz="4400" dirty="0"/>
          </a:p>
        </p:txBody>
      </p:sp>
      <p:sp>
        <p:nvSpPr>
          <p:cNvPr id="3" name="Text 0"/>
          <p:cNvSpPr/>
          <p:nvPr>
            <p:ph idx="101" type="body" hasCustomPrompt="1"/>
          </p:nvPr>
        </p:nvSpPr>
        <p:spPr>
          <a:xfrm>
            <a:off x="548640" y="2697480"/>
            <a:ext cx="4937760" cy="822960"/>
          </a:xfrm>
          <a:prstGeom prst="rect">
            <a:avLst/>
          </a:prstGeom>
          <a:noFill/>
          <a:ln/>
        </p:spPr>
        <p:txBody>
          <a:bodyPr wrap="square" lIns="0" tIns="0" rIns="0" bIns="0" rtlCol="0" anchor="t"/>
          <a:lstStyle/>
          <a:p>
            <a:pPr indent="0" marL="0">
              <a:buNone/>
            </a:pPr>
            <a:r>
              <a:rPr lang="en-US" sz="1800" dirty="0">
                <a:solidFill>
                  <a:srgbClr val="B7D4C2"/>
                </a:solidFill>
              </a:rPr>
              <a:t>Math Simplified, Success Amplified. Ontario math, Kindergarten to Grade 12.</a:t>
            </a:r>
            <a:endParaRPr lang="en-US" sz="1800" dirty="0"/>
          </a:p>
        </p:txBody>
      </p:sp>
      <p:sp>
        <p:nvSpPr>
          <p:cNvPr id="4" name="Text 2"/>
          <p:cNvSpPr txBox="1"/>
          <p:nvPr/>
        </p:nvSpPr>
        <p:spPr>
          <a:xfrm>
            <a:off x="548640" y="4206240"/>
            <a:ext cx="4937760" cy="274320"/>
          </a:xfrm>
          <a:prstGeom prst="rect">
            <a:avLst/>
          </a:prstGeom>
          <a:noFill/>
          <a:ln/>
        </p:spPr>
        <p:txBody>
          <a:bodyPr wrap="square" lIns="0" tIns="0" rIns="0" bIns="0" rtlCol="0" anchor="ctr"/>
          <a:lstStyle/>
          <a:p>
            <a:pPr indent="0" marL="0">
              <a:buNone/>
            </a:pPr>
            <a:r>
              <a:rPr lang="en-US" sz="1400" dirty="0">
                <a:solidFill>
                  <a:srgbClr val="B7D4C2"/>
                </a:solidFill>
              </a:rPr>
              <a:t>Presented to [Board name]  ·  [Your name], Founder</a:t>
            </a:r>
            <a:endParaRPr lang="en-US" sz="1400" dirty="0"/>
          </a:p>
        </p:txBody>
      </p:sp>
      <p:sp>
        <p:nvSpPr>
          <p:cNvPr id="5" name="K-8 badge"/>
          <p:cNvSpPr/>
          <p:nvPr/>
        </p:nvSpPr>
        <p:spPr>
          <a:xfrm>
            <a:off x="6035040" y="640080"/>
            <a:ext cx="2011680" cy="2011680"/>
          </a:xfrm>
          <a:prstGeom prst="ellipse">
            <a:avLst/>
          </a:prstGeom>
          <a:solidFill>
            <a:schemeClr val="accent2"/>
          </a:solidFill>
          <a:ln w="12700">
            <a:solidFill>
              <a:schemeClr val="accent2"/>
            </a:solidFill>
            <a:prstDash val="solid"/>
          </a:ln>
        </p:spPr>
      </p:sp>
      <p:sp>
        <p:nvSpPr>
          <p:cNvPr id="6" name="Text 4"/>
          <p:cNvSpPr txBox="1"/>
          <p:nvPr/>
        </p:nvSpPr>
        <p:spPr>
          <a:xfrm>
            <a:off x="6035040" y="640080"/>
            <a:ext cx="2011680" cy="2011680"/>
          </a:xfrm>
          <a:prstGeom prst="rect">
            <a:avLst/>
          </a:prstGeom>
          <a:noFill/>
          <a:ln/>
        </p:spPr>
        <p:txBody>
          <a:bodyPr wrap="square" lIns="0" tIns="0" rIns="0" bIns="0" rtlCol="0" anchor="ctr"/>
          <a:lstStyle/>
          <a:p>
            <a:pPr algn="ctr" indent="0" marL="0">
              <a:buNone/>
            </a:pPr>
            <a:r>
              <a:rPr lang="en-US" sz="4400" b="1" dirty="0">
                <a:solidFill>
                  <a:schemeClr val="tx2"/>
                </a:solidFill>
              </a:rPr>
              <a:t>K–8</a:t>
            </a:r>
            <a:endParaRPr lang="en-US" sz="4400" dirty="0"/>
          </a:p>
          <a:p>
            <a:pPr algn="ctr" indent="0" marL="0">
              <a:buNone/>
            </a:pPr>
            <a:r>
              <a:rPr lang="en-US" sz="1200" dirty="0">
                <a:solidFill>
                  <a:schemeClr val="tx2"/>
                </a:solidFill>
              </a:rPr>
              <a:t>integrationacademy.org</a:t>
            </a:r>
            <a:endParaRPr lang="en-US" sz="4400" dirty="0"/>
          </a:p>
        </p:txBody>
      </p:sp>
      <p:sp>
        <p:nvSpPr>
          <p:cNvPr id="7" name="9-12 badge"/>
          <p:cNvSpPr/>
          <p:nvPr/>
        </p:nvSpPr>
        <p:spPr>
          <a:xfrm>
            <a:off x="6583680" y="2743200"/>
            <a:ext cx="2011680" cy="2011680"/>
          </a:xfrm>
          <a:prstGeom prst="ellipse">
            <a:avLst/>
          </a:prstGeom>
          <a:solidFill>
            <a:schemeClr val="accent3"/>
          </a:solidFill>
          <a:ln w="12700">
            <a:solidFill>
              <a:schemeClr val="accent3"/>
            </a:solidFill>
            <a:prstDash val="solid"/>
          </a:ln>
        </p:spPr>
      </p:sp>
      <p:sp>
        <p:nvSpPr>
          <p:cNvPr id="8" name="Text 6"/>
          <p:cNvSpPr txBox="1"/>
          <p:nvPr/>
        </p:nvSpPr>
        <p:spPr>
          <a:xfrm>
            <a:off x="6583680" y="2743200"/>
            <a:ext cx="2011680" cy="2011680"/>
          </a:xfrm>
          <a:prstGeom prst="rect">
            <a:avLst/>
          </a:prstGeom>
          <a:noFill/>
          <a:ln/>
        </p:spPr>
        <p:txBody>
          <a:bodyPr wrap="square" lIns="0" tIns="0" rIns="0" bIns="0" rtlCol="0" anchor="ctr"/>
          <a:lstStyle/>
          <a:p>
            <a:pPr algn="ctr" indent="0" marL="0">
              <a:buNone/>
            </a:pPr>
            <a:r>
              <a:rPr lang="en-US" sz="4400" b="1" dirty="0">
                <a:solidFill>
                  <a:schemeClr val="tx2"/>
                </a:solidFill>
              </a:rPr>
              <a:t>9–12</a:t>
            </a:r>
            <a:endParaRPr lang="en-US" sz="4400" dirty="0"/>
          </a:p>
          <a:p>
            <a:pPr algn="ctr" indent="0" marL="0">
              <a:buNone/>
            </a:pPr>
            <a:r>
              <a:rPr lang="en-US" sz="1200" dirty="0">
                <a:solidFill>
                  <a:schemeClr val="tx2"/>
                </a:solidFill>
              </a:rPr>
              <a:t>integrationacademy.ca</a:t>
            </a:r>
            <a:endParaRPr lang="en-US" sz="4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Two sites, one approach</a:t>
            </a:r>
            <a:endParaRPr lang="en-US" sz="3000" dirty="0"/>
          </a:p>
        </p:txBody>
      </p:sp>
      <p:sp>
        <p:nvSpPr>
          <p:cNvPr id="3" name="integrationacademy.org card"/>
          <p:cNvSpPr/>
          <p:nvPr/>
        </p:nvSpPr>
        <p:spPr>
          <a:xfrm>
            <a:off x="457200" y="1280160"/>
            <a:ext cx="3931920" cy="3063240"/>
          </a:xfrm>
          <a:prstGeom prst="roundRect">
            <a:avLst>
              <a:gd name="adj" fmla="val 2985"/>
            </a:avLst>
          </a:prstGeom>
          <a:solidFill>
            <a:schemeClr val="bg1"/>
          </a:solidFill>
          <a:ln w="12700">
            <a:solidFill>
              <a:srgbClr val="D3DBCD"/>
            </a:solidFill>
            <a:prstDash val="solid"/>
          </a:ln>
        </p:spPr>
      </p:sp>
      <p:sp>
        <p:nvSpPr>
          <p:cNvPr id="4" name="integrationacademy.org circle"/>
          <p:cNvSpPr/>
          <p:nvPr/>
        </p:nvSpPr>
        <p:spPr>
          <a:xfrm>
            <a:off x="731520" y="1508760"/>
            <a:ext cx="640080" cy="640080"/>
          </a:xfrm>
          <a:prstGeom prst="ellipse">
            <a:avLst/>
          </a:prstGeom>
          <a:solidFill>
            <a:schemeClr val="accent1"/>
          </a:solidFill>
          <a:ln w="12700">
            <a:solidFill>
              <a:schemeClr val="accent1"/>
            </a:solidFill>
            <a:prstDash val="solid"/>
          </a:ln>
        </p:spPr>
      </p:sp>
      <p:pic>
        <p:nvPicPr>
          <p:cNvPr id="5" name="Image 0" descr="integrationacademy.org">    </p:cNvPr>
          <p:cNvPicPr>
            <a:picLocks noChangeAspect="1"/>
          </p:cNvPicPr>
          <p:nvPr/>
        </p:nvPicPr>
        <p:blipFill>
          <a:blip r:embed="rId1"/>
          <a:stretch>
            <a:fillRect/>
          </a:stretch>
        </p:blipFill>
        <p:spPr>
          <a:xfrm>
            <a:off x="891540" y="1668780"/>
            <a:ext cx="320040" cy="320040"/>
          </a:xfrm>
          <a:prstGeom prst="rect">
            <a:avLst/>
          </a:prstGeom>
        </p:spPr>
      </p:pic>
      <p:sp>
        <p:nvSpPr>
          <p:cNvPr id="6" name="Text 3"/>
          <p:cNvSpPr txBox="1"/>
          <p:nvPr/>
        </p:nvSpPr>
        <p:spPr>
          <a:xfrm>
            <a:off x="1508760" y="1508760"/>
            <a:ext cx="2743200" cy="274320"/>
          </a:xfrm>
          <a:prstGeom prst="rect">
            <a:avLst/>
          </a:prstGeom>
          <a:noFill/>
          <a:ln/>
        </p:spPr>
        <p:txBody>
          <a:bodyPr wrap="square" lIns="0" tIns="0" rIns="0" bIns="0" rtlCol="0" anchor="ctr"/>
          <a:lstStyle/>
          <a:p>
            <a:pPr indent="0" marL="0">
              <a:buNone/>
            </a:pPr>
            <a:r>
              <a:rPr lang="en-US" sz="1400" b="1" dirty="0">
                <a:solidFill>
                  <a:schemeClr val="accent1"/>
                </a:solidFill>
              </a:rPr>
              <a:t>Kindergarten to Grade 8</a:t>
            </a:r>
            <a:endParaRPr lang="en-US" sz="1400" dirty="0"/>
          </a:p>
        </p:txBody>
      </p:sp>
      <p:sp>
        <p:nvSpPr>
          <p:cNvPr id="7" name="Text 4"/>
          <p:cNvSpPr txBox="1"/>
          <p:nvPr/>
        </p:nvSpPr>
        <p:spPr>
          <a:xfrm>
            <a:off x="1508760" y="1783080"/>
            <a:ext cx="278892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integrationacademy.org</a:t>
            </a:r>
            <a:endParaRPr lang="en-US" sz="2000" dirty="0"/>
          </a:p>
        </p:txBody>
      </p:sp>
      <p:sp>
        <p:nvSpPr>
          <p:cNvPr id="8" name="Text 5"/>
          <p:cNvSpPr txBox="1"/>
          <p:nvPr/>
        </p:nvSpPr>
        <p:spPr>
          <a:xfrm>
            <a:off x="731520" y="2468880"/>
            <a:ext cx="33832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Every expectation of the 2020 Ontario Mathematics Curriculum</a:t>
            </a:r>
            <a:endParaRPr lang="en-US" sz="1400" dirty="0"/>
          </a:p>
          <a:p>
            <a:pPr marL="342900" indent="-342900">
              <a:spcAft>
                <a:spcPts val="600"/>
              </a:spcAft>
              <a:buSzPct val="100000"/>
              <a:buChar char="•"/>
            </a:pPr>
            <a:r>
              <a:rPr lang="en-US" sz="1400" dirty="0">
                <a:solidFill>
                  <a:schemeClr val="tx1"/>
                </a:solidFill>
              </a:rPr>
              <a:t>Video lessons, slides, worksheets and games</a:t>
            </a:r>
            <a:endParaRPr lang="en-US" sz="1400" dirty="0"/>
          </a:p>
          <a:p>
            <a:pPr marL="342900" indent="-342900">
              <a:spcAft>
                <a:spcPts val="600"/>
              </a:spcAft>
              <a:buSzPct val="100000"/>
              <a:buChar char="•"/>
            </a:pPr>
            <a:r>
              <a:rPr lang="en-US" sz="1400" dirty="0">
                <a:solidFill>
                  <a:schemeClr val="tx1"/>
                </a:solidFill>
              </a:rPr>
              <a:t>EQAO practice for Grades 3 and 6, in English and French</a:t>
            </a:r>
            <a:endParaRPr lang="en-US" sz="1400" dirty="0"/>
          </a:p>
        </p:txBody>
      </p:sp>
      <p:sp>
        <p:nvSpPr>
          <p:cNvPr id="9" name="integrationacademy.ca card"/>
          <p:cNvSpPr/>
          <p:nvPr/>
        </p:nvSpPr>
        <p:spPr>
          <a:xfrm>
            <a:off x="4754880" y="1280160"/>
            <a:ext cx="3931920" cy="3063240"/>
          </a:xfrm>
          <a:prstGeom prst="roundRect">
            <a:avLst>
              <a:gd name="adj" fmla="val 2985"/>
            </a:avLst>
          </a:prstGeom>
          <a:solidFill>
            <a:schemeClr val="bg1"/>
          </a:solidFill>
          <a:ln w="12700">
            <a:solidFill>
              <a:srgbClr val="D3DBCD"/>
            </a:solidFill>
            <a:prstDash val="solid"/>
          </a:ln>
        </p:spPr>
      </p:sp>
      <p:sp>
        <p:nvSpPr>
          <p:cNvPr id="10" name="integrationacademy.ca circle"/>
          <p:cNvSpPr/>
          <p:nvPr/>
        </p:nvSpPr>
        <p:spPr>
          <a:xfrm>
            <a:off x="5029200" y="1508760"/>
            <a:ext cx="640080" cy="640080"/>
          </a:xfrm>
          <a:prstGeom prst="ellipse">
            <a:avLst/>
          </a:prstGeom>
          <a:solidFill>
            <a:schemeClr val="accent1"/>
          </a:solidFill>
          <a:ln w="12700">
            <a:solidFill>
              <a:schemeClr val="accent1"/>
            </a:solidFill>
            <a:prstDash val="solid"/>
          </a:ln>
        </p:spPr>
      </p:sp>
      <p:pic>
        <p:nvPicPr>
          <p:cNvPr id="11" name="Image 1" descr="integrationacademy.ca">    </p:cNvPr>
          <p:cNvPicPr>
            <a:picLocks noChangeAspect="1"/>
          </p:cNvPicPr>
          <p:nvPr/>
        </p:nvPicPr>
        <p:blipFill>
          <a:blip r:embed="rId2"/>
          <a:stretch>
            <a:fillRect/>
          </a:stretch>
        </p:blipFill>
        <p:spPr>
          <a:xfrm>
            <a:off x="5189220" y="1668780"/>
            <a:ext cx="320040" cy="320040"/>
          </a:xfrm>
          <a:prstGeom prst="rect">
            <a:avLst/>
          </a:prstGeom>
        </p:spPr>
      </p:pic>
      <p:sp>
        <p:nvSpPr>
          <p:cNvPr id="12" name="Text 8"/>
          <p:cNvSpPr txBox="1"/>
          <p:nvPr/>
        </p:nvSpPr>
        <p:spPr>
          <a:xfrm>
            <a:off x="5806440" y="1508760"/>
            <a:ext cx="2743200" cy="274320"/>
          </a:xfrm>
          <a:prstGeom prst="rect">
            <a:avLst/>
          </a:prstGeom>
          <a:noFill/>
          <a:ln/>
        </p:spPr>
        <p:txBody>
          <a:bodyPr wrap="square" lIns="0" tIns="0" rIns="0" bIns="0" rtlCol="0" anchor="ctr"/>
          <a:lstStyle/>
          <a:p>
            <a:pPr indent="0" marL="0">
              <a:buNone/>
            </a:pPr>
            <a:r>
              <a:rPr lang="en-US" sz="1400" b="1" dirty="0">
                <a:solidFill>
                  <a:schemeClr val="accent1"/>
                </a:solidFill>
              </a:rPr>
              <a:t>Grades 9 to 12</a:t>
            </a:r>
            <a:endParaRPr lang="en-US" sz="1400" dirty="0"/>
          </a:p>
        </p:txBody>
      </p:sp>
      <p:sp>
        <p:nvSpPr>
          <p:cNvPr id="13" name="Text 9"/>
          <p:cNvSpPr txBox="1"/>
          <p:nvPr/>
        </p:nvSpPr>
        <p:spPr>
          <a:xfrm>
            <a:off x="5806440" y="1783080"/>
            <a:ext cx="2788920" cy="365760"/>
          </a:xfrm>
          <a:prstGeom prst="rect">
            <a:avLst/>
          </a:prstGeom>
          <a:noFill/>
          <a:ln/>
        </p:spPr>
        <p:txBody>
          <a:bodyPr wrap="square" lIns="0" tIns="0" rIns="0" bIns="0" rtlCol="0" anchor="ctr"/>
          <a:lstStyle/>
          <a:p>
            <a:pPr indent="0" marL="0">
              <a:buNone/>
            </a:pPr>
            <a:r>
              <a:rPr lang="en-US" sz="2000" b="1" dirty="0">
                <a:solidFill>
                  <a:schemeClr val="tx1"/>
                </a:solidFill>
                <a:latin typeface="Cambria" pitchFamily="34" charset="0"/>
                <a:ea typeface="Cambria" pitchFamily="34" charset="-122"/>
                <a:cs typeface="Cambria" pitchFamily="34" charset="-120"/>
              </a:rPr>
              <a:t>integrationacademy.ca</a:t>
            </a:r>
            <a:endParaRPr lang="en-US" sz="2000" dirty="0"/>
          </a:p>
        </p:txBody>
      </p:sp>
      <p:sp>
        <p:nvSpPr>
          <p:cNvPr id="14" name="Text 10"/>
          <p:cNvSpPr txBox="1"/>
          <p:nvPr/>
        </p:nvSpPr>
        <p:spPr>
          <a:xfrm>
            <a:off x="5029200" y="2468880"/>
            <a:ext cx="3383280" cy="173736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rPr>
              <a:t>Courses from MTH1W to MCV4U and MDM4U, plus AP and IB</a:t>
            </a:r>
            <a:endParaRPr lang="en-US" sz="1400" dirty="0"/>
          </a:p>
          <a:p>
            <a:pPr marL="342900" indent="-342900">
              <a:spcAft>
                <a:spcPts val="600"/>
              </a:spcAft>
              <a:buSzPct val="100000"/>
              <a:buChar char="•"/>
            </a:pPr>
            <a:r>
              <a:rPr lang="en-US" sz="1400" dirty="0">
                <a:solidFill>
                  <a:schemeClr val="tx1"/>
                </a:solidFill>
              </a:rPr>
              <a:t>Interactive lessons with live graphs</a:t>
            </a:r>
            <a:endParaRPr lang="en-US" sz="1400" dirty="0"/>
          </a:p>
          <a:p>
            <a:pPr marL="342900" indent="-342900">
              <a:spcAft>
                <a:spcPts val="600"/>
              </a:spcAft>
              <a:buSzPct val="100000"/>
              <a:buChar char="•"/>
            </a:pPr>
            <a:r>
              <a:rPr lang="en-US" sz="1400" dirty="0">
                <a:solidFill>
                  <a:schemeClr val="tx1"/>
                </a:solidFill>
              </a:rPr>
              <a:t>An auto-graded question bank, worksheets and class tools</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rPr>
              <a:t>A full library on both sites</a:t>
            </a:r>
            <a:endParaRPr lang="en-US" sz="3000" dirty="0"/>
          </a:p>
        </p:txBody>
      </p:sp>
      <p:sp>
        <p:nvSpPr>
          <p:cNvPr id="3" name="Text 1"/>
          <p:cNvSpPr txBox="1"/>
          <p:nvPr/>
        </p:nvSpPr>
        <p:spPr>
          <a:xfrm>
            <a:off x="457200" y="1234440"/>
            <a:ext cx="8229600" cy="274320"/>
          </a:xfrm>
          <a:prstGeom prst="rect">
            <a:avLst/>
          </a:prstGeom>
          <a:noFill/>
          <a:ln/>
        </p:spPr>
        <p:txBody>
          <a:bodyPr wrap="square" lIns="0" tIns="0" rIns="0" bIns="0" rtlCol="0" anchor="ctr"/>
          <a:lstStyle/>
          <a:p>
            <a:pPr indent="0" marL="0">
              <a:buNone/>
            </a:pPr>
            <a:r>
              <a:rPr lang="en-US" sz="1400" b="1" dirty="0">
                <a:solidFill>
                  <a:schemeClr val="accent2"/>
                </a:solidFill>
              </a:rPr>
              <a:t>integrationacademy.org · Grades K–8</a:t>
            </a:r>
            <a:endParaRPr lang="en-US" sz="1400" dirty="0"/>
          </a:p>
        </p:txBody>
      </p:sp>
      <p:sp>
        <p:nvSpPr>
          <p:cNvPr id="4" name="integrationacademy.org · Grades K–8 stat 349"/>
          <p:cNvSpPr/>
          <p:nvPr/>
        </p:nvSpPr>
        <p:spPr>
          <a:xfrm>
            <a:off x="502920" y="1581912"/>
            <a:ext cx="2651760" cy="1097280"/>
          </a:xfrm>
          <a:prstGeom prst="roundRect">
            <a:avLst>
              <a:gd name="adj" fmla="val 8333"/>
            </a:avLst>
          </a:prstGeom>
          <a:solidFill>
            <a:schemeClr val="accent4"/>
          </a:solidFill>
          <a:ln w="12700">
            <a:solidFill>
              <a:srgbClr val="1F4B38"/>
            </a:solidFill>
            <a:prstDash val="solid"/>
          </a:ln>
        </p:spPr>
      </p:sp>
      <p:sp>
        <p:nvSpPr>
          <p:cNvPr id="5" name="Text 3"/>
          <p:cNvSpPr txBox="1"/>
          <p:nvPr/>
        </p:nvSpPr>
        <p:spPr>
          <a:xfrm>
            <a:off x="502920" y="1645920"/>
            <a:ext cx="2651760" cy="594360"/>
          </a:xfrm>
          <a:prstGeom prst="rect">
            <a:avLst/>
          </a:prstGeom>
          <a:noFill/>
          <a:ln/>
        </p:spPr>
        <p:txBody>
          <a:bodyPr wrap="square" lIns="0" tIns="0" rIns="0" bIns="0" rtlCol="0" anchor="ctr"/>
          <a:lstStyle/>
          <a:p>
            <a:pPr algn="ctr" indent="0" marL="0">
              <a:buNone/>
            </a:pPr>
            <a:r>
              <a:rPr lang="en-US" sz="3600" b="1" dirty="0">
                <a:solidFill>
                  <a:schemeClr val="accent2"/>
                </a:solidFill>
                <a:latin typeface="Cambria" pitchFamily="34" charset="0"/>
                <a:ea typeface="Cambria" pitchFamily="34" charset="-122"/>
                <a:cs typeface="Cambria" pitchFamily="34" charset="-120"/>
              </a:rPr>
              <a:t>349</a:t>
            </a:r>
            <a:endParaRPr lang="en-US" sz="3600" dirty="0"/>
          </a:p>
        </p:txBody>
      </p:sp>
      <p:sp>
        <p:nvSpPr>
          <p:cNvPr id="6" name="Text 4"/>
          <p:cNvSpPr txBox="1"/>
          <p:nvPr/>
        </p:nvSpPr>
        <p:spPr>
          <a:xfrm>
            <a:off x="594360" y="2221992"/>
            <a:ext cx="2468880" cy="411480"/>
          </a:xfrm>
          <a:prstGeom prst="rect">
            <a:avLst/>
          </a:prstGeom>
          <a:noFill/>
          <a:ln/>
        </p:spPr>
        <p:txBody>
          <a:bodyPr wrap="square" lIns="0" tIns="0" rIns="0" bIns="0" rtlCol="0" anchor="t"/>
          <a:lstStyle/>
          <a:p>
            <a:pPr algn="ctr" indent="0" marL="0">
              <a:buNone/>
            </a:pPr>
            <a:r>
              <a:rPr lang="en-US" sz="1200" dirty="0">
                <a:solidFill>
                  <a:schemeClr val="bg1"/>
                </a:solidFill>
              </a:rPr>
              <a:t>curriculum expectations with practice games</a:t>
            </a:r>
            <a:endParaRPr lang="en-US" sz="1200" dirty="0"/>
          </a:p>
        </p:txBody>
      </p:sp>
      <p:sp>
        <p:nvSpPr>
          <p:cNvPr id="7" name="integrationacademy.org · Grades K–8 stat 1,257"/>
          <p:cNvSpPr/>
          <p:nvPr/>
        </p:nvSpPr>
        <p:spPr>
          <a:xfrm>
            <a:off x="3246120" y="1581912"/>
            <a:ext cx="2651760" cy="1097280"/>
          </a:xfrm>
          <a:prstGeom prst="roundRect">
            <a:avLst>
              <a:gd name="adj" fmla="val 8333"/>
            </a:avLst>
          </a:prstGeom>
          <a:solidFill>
            <a:schemeClr val="accent4"/>
          </a:solidFill>
          <a:ln w="12700">
            <a:solidFill>
              <a:srgbClr val="1F4B38"/>
            </a:solidFill>
            <a:prstDash val="solid"/>
          </a:ln>
        </p:spPr>
      </p:sp>
      <p:sp>
        <p:nvSpPr>
          <p:cNvPr id="8" name="Text 6"/>
          <p:cNvSpPr txBox="1"/>
          <p:nvPr/>
        </p:nvSpPr>
        <p:spPr>
          <a:xfrm>
            <a:off x="3246120" y="1645920"/>
            <a:ext cx="2651760" cy="594360"/>
          </a:xfrm>
          <a:prstGeom prst="rect">
            <a:avLst/>
          </a:prstGeom>
          <a:noFill/>
          <a:ln/>
        </p:spPr>
        <p:txBody>
          <a:bodyPr wrap="square" lIns="0" tIns="0" rIns="0" bIns="0" rtlCol="0" anchor="ctr"/>
          <a:lstStyle/>
          <a:p>
            <a:pPr algn="ctr" indent="0" marL="0">
              <a:buNone/>
            </a:pPr>
            <a:r>
              <a:rPr lang="en-US" sz="3600" b="1" dirty="0">
                <a:solidFill>
                  <a:schemeClr val="accent2"/>
                </a:solidFill>
                <a:latin typeface="Cambria" pitchFamily="34" charset="0"/>
                <a:ea typeface="Cambria" pitchFamily="34" charset="-122"/>
                <a:cs typeface="Cambria" pitchFamily="34" charset="-120"/>
              </a:rPr>
              <a:t>1,257</a:t>
            </a:r>
            <a:endParaRPr lang="en-US" sz="3600" dirty="0"/>
          </a:p>
        </p:txBody>
      </p:sp>
      <p:sp>
        <p:nvSpPr>
          <p:cNvPr id="9" name="Text 7"/>
          <p:cNvSpPr txBox="1"/>
          <p:nvPr/>
        </p:nvSpPr>
        <p:spPr>
          <a:xfrm>
            <a:off x="3337560" y="2221992"/>
            <a:ext cx="2468880" cy="411480"/>
          </a:xfrm>
          <a:prstGeom prst="rect">
            <a:avLst/>
          </a:prstGeom>
          <a:noFill/>
          <a:ln/>
        </p:spPr>
        <p:txBody>
          <a:bodyPr wrap="square" lIns="0" tIns="0" rIns="0" bIns="0" rtlCol="0" anchor="t"/>
          <a:lstStyle/>
          <a:p>
            <a:pPr algn="ctr" indent="0" marL="0">
              <a:buNone/>
            </a:pPr>
            <a:r>
              <a:rPr lang="en-US" sz="1200" dirty="0">
                <a:solidFill>
                  <a:schemeClr val="bg1"/>
                </a:solidFill>
              </a:rPr>
              <a:t>games at Easy, Medium and Hard</a:t>
            </a:r>
            <a:endParaRPr lang="en-US" sz="1200" dirty="0"/>
          </a:p>
        </p:txBody>
      </p:sp>
      <p:sp>
        <p:nvSpPr>
          <p:cNvPr id="10" name="integrationacademy.org · Grades K–8 stat 5"/>
          <p:cNvSpPr/>
          <p:nvPr/>
        </p:nvSpPr>
        <p:spPr>
          <a:xfrm>
            <a:off x="5989320" y="1581912"/>
            <a:ext cx="2651760" cy="1097280"/>
          </a:xfrm>
          <a:prstGeom prst="roundRect">
            <a:avLst>
              <a:gd name="adj" fmla="val 8333"/>
            </a:avLst>
          </a:prstGeom>
          <a:solidFill>
            <a:schemeClr val="accent4"/>
          </a:solidFill>
          <a:ln w="12700">
            <a:solidFill>
              <a:srgbClr val="1F4B38"/>
            </a:solidFill>
            <a:prstDash val="solid"/>
          </a:ln>
        </p:spPr>
      </p:sp>
      <p:sp>
        <p:nvSpPr>
          <p:cNvPr id="11" name="Text 9"/>
          <p:cNvSpPr txBox="1"/>
          <p:nvPr/>
        </p:nvSpPr>
        <p:spPr>
          <a:xfrm>
            <a:off x="5989320" y="1645920"/>
            <a:ext cx="2651760" cy="594360"/>
          </a:xfrm>
          <a:prstGeom prst="rect">
            <a:avLst/>
          </a:prstGeom>
          <a:noFill/>
          <a:ln/>
        </p:spPr>
        <p:txBody>
          <a:bodyPr wrap="square" lIns="0" tIns="0" rIns="0" bIns="0" rtlCol="0" anchor="ctr"/>
          <a:lstStyle/>
          <a:p>
            <a:pPr algn="ctr" indent="0" marL="0">
              <a:buNone/>
            </a:pPr>
            <a:r>
              <a:rPr lang="en-US" sz="3600" b="1" dirty="0">
                <a:solidFill>
                  <a:schemeClr val="accent2"/>
                </a:solidFill>
                <a:latin typeface="Cambria" pitchFamily="34" charset="0"/>
                <a:ea typeface="Cambria" pitchFamily="34" charset="-122"/>
                <a:cs typeface="Cambria" pitchFamily="34" charset="-120"/>
              </a:rPr>
              <a:t>5</a:t>
            </a:r>
            <a:endParaRPr lang="en-US" sz="3600" dirty="0"/>
          </a:p>
        </p:txBody>
      </p:sp>
      <p:sp>
        <p:nvSpPr>
          <p:cNvPr id="12" name="Text 10"/>
          <p:cNvSpPr txBox="1"/>
          <p:nvPr/>
        </p:nvSpPr>
        <p:spPr>
          <a:xfrm>
            <a:off x="6080760" y="2221992"/>
            <a:ext cx="2468880" cy="411480"/>
          </a:xfrm>
          <a:prstGeom prst="rect">
            <a:avLst/>
          </a:prstGeom>
          <a:noFill/>
          <a:ln/>
        </p:spPr>
        <p:txBody>
          <a:bodyPr wrap="square" lIns="0" tIns="0" rIns="0" bIns="0" rtlCol="0" anchor="t"/>
          <a:lstStyle/>
          <a:p>
            <a:pPr algn="ctr" indent="0" marL="0">
              <a:buNone/>
            </a:pPr>
            <a:r>
              <a:rPr lang="en-US" sz="1200" dirty="0">
                <a:solidFill>
                  <a:schemeClr val="bg1"/>
                </a:solidFill>
              </a:rPr>
              <a:t>strands, including Financial Literacy</a:t>
            </a:r>
            <a:endParaRPr lang="en-US" sz="1200" dirty="0"/>
          </a:p>
        </p:txBody>
      </p:sp>
      <p:sp>
        <p:nvSpPr>
          <p:cNvPr id="13" name="Text 11"/>
          <p:cNvSpPr txBox="1"/>
          <p:nvPr/>
        </p:nvSpPr>
        <p:spPr>
          <a:xfrm>
            <a:off x="457200" y="3017520"/>
            <a:ext cx="8229600" cy="274320"/>
          </a:xfrm>
          <a:prstGeom prst="rect">
            <a:avLst/>
          </a:prstGeom>
          <a:noFill/>
          <a:ln/>
        </p:spPr>
        <p:txBody>
          <a:bodyPr wrap="square" lIns="0" tIns="0" rIns="0" bIns="0" rtlCol="0" anchor="ctr"/>
          <a:lstStyle/>
          <a:p>
            <a:pPr indent="0" marL="0">
              <a:buNone/>
            </a:pPr>
            <a:r>
              <a:rPr lang="en-US" sz="1400" b="1" dirty="0">
                <a:solidFill>
                  <a:schemeClr val="accent3"/>
                </a:solidFill>
              </a:rPr>
              <a:t>integrationacademy.ca · Grades 9–12</a:t>
            </a:r>
            <a:endParaRPr lang="en-US" sz="1400" dirty="0"/>
          </a:p>
        </p:txBody>
      </p:sp>
      <p:sp>
        <p:nvSpPr>
          <p:cNvPr id="14" name="integrationacademy.ca · Grades 9–12 stat 16"/>
          <p:cNvSpPr/>
          <p:nvPr/>
        </p:nvSpPr>
        <p:spPr>
          <a:xfrm>
            <a:off x="502920" y="3364992"/>
            <a:ext cx="1965960" cy="1097280"/>
          </a:xfrm>
          <a:prstGeom prst="roundRect">
            <a:avLst>
              <a:gd name="adj" fmla="val 8333"/>
            </a:avLst>
          </a:prstGeom>
          <a:solidFill>
            <a:schemeClr val="accent4"/>
          </a:solidFill>
          <a:ln w="12700">
            <a:solidFill>
              <a:srgbClr val="1F4B38"/>
            </a:solidFill>
            <a:prstDash val="solid"/>
          </a:ln>
        </p:spPr>
      </p:sp>
      <p:sp>
        <p:nvSpPr>
          <p:cNvPr id="15" name="Text 13"/>
          <p:cNvSpPr txBox="1"/>
          <p:nvPr/>
        </p:nvSpPr>
        <p:spPr>
          <a:xfrm>
            <a:off x="502920" y="3429000"/>
            <a:ext cx="1965960" cy="594360"/>
          </a:xfrm>
          <a:prstGeom prst="rect">
            <a:avLst/>
          </a:prstGeom>
          <a:noFill/>
          <a:ln/>
        </p:spPr>
        <p:txBody>
          <a:bodyPr wrap="square" lIns="0" tIns="0" rIns="0" bIns="0" rtlCol="0" anchor="ctr"/>
          <a:lstStyle/>
          <a:p>
            <a:pPr algn="ctr" indent="0" marL="0">
              <a:buNone/>
            </a:pPr>
            <a:r>
              <a:rPr lang="en-US" sz="3600" b="1" dirty="0">
                <a:solidFill>
                  <a:schemeClr val="accent3"/>
                </a:solidFill>
                <a:latin typeface="Cambria" pitchFamily="34" charset="0"/>
                <a:ea typeface="Cambria" pitchFamily="34" charset="-122"/>
                <a:cs typeface="Cambria" pitchFamily="34" charset="-120"/>
              </a:rPr>
              <a:t>16</a:t>
            </a:r>
            <a:endParaRPr lang="en-US" sz="3600" dirty="0"/>
          </a:p>
        </p:txBody>
      </p:sp>
      <p:sp>
        <p:nvSpPr>
          <p:cNvPr id="16" name="Text 14"/>
          <p:cNvSpPr txBox="1"/>
          <p:nvPr/>
        </p:nvSpPr>
        <p:spPr>
          <a:xfrm>
            <a:off x="594360" y="4005072"/>
            <a:ext cx="1783080" cy="411480"/>
          </a:xfrm>
          <a:prstGeom prst="rect">
            <a:avLst/>
          </a:prstGeom>
          <a:noFill/>
          <a:ln/>
        </p:spPr>
        <p:txBody>
          <a:bodyPr wrap="square" lIns="0" tIns="0" rIns="0" bIns="0" rtlCol="0" anchor="t"/>
          <a:lstStyle/>
          <a:p>
            <a:pPr algn="ctr" indent="0" marL="0">
              <a:buNone/>
            </a:pPr>
            <a:r>
              <a:rPr lang="en-US" sz="1200" dirty="0">
                <a:solidFill>
                  <a:schemeClr val="bg1"/>
                </a:solidFill>
              </a:rPr>
              <a:t>full courses</a:t>
            </a:r>
            <a:endParaRPr lang="en-US" sz="1200" dirty="0"/>
          </a:p>
        </p:txBody>
      </p:sp>
      <p:sp>
        <p:nvSpPr>
          <p:cNvPr id="17" name="integrationacademy.ca · Grades 9–12 stat 640+"/>
          <p:cNvSpPr/>
          <p:nvPr/>
        </p:nvSpPr>
        <p:spPr>
          <a:xfrm>
            <a:off x="2560320" y="3364992"/>
            <a:ext cx="1965960" cy="1097280"/>
          </a:xfrm>
          <a:prstGeom prst="roundRect">
            <a:avLst>
              <a:gd name="adj" fmla="val 8333"/>
            </a:avLst>
          </a:prstGeom>
          <a:solidFill>
            <a:schemeClr val="accent4"/>
          </a:solidFill>
          <a:ln w="12700">
            <a:solidFill>
              <a:srgbClr val="1F4B38"/>
            </a:solidFill>
            <a:prstDash val="solid"/>
          </a:ln>
        </p:spPr>
      </p:sp>
      <p:sp>
        <p:nvSpPr>
          <p:cNvPr id="18" name="Text 16"/>
          <p:cNvSpPr txBox="1"/>
          <p:nvPr/>
        </p:nvSpPr>
        <p:spPr>
          <a:xfrm>
            <a:off x="2560320" y="3429000"/>
            <a:ext cx="1965960" cy="594360"/>
          </a:xfrm>
          <a:prstGeom prst="rect">
            <a:avLst/>
          </a:prstGeom>
          <a:noFill/>
          <a:ln/>
        </p:spPr>
        <p:txBody>
          <a:bodyPr wrap="square" lIns="0" tIns="0" rIns="0" bIns="0" rtlCol="0" anchor="ctr"/>
          <a:lstStyle/>
          <a:p>
            <a:pPr algn="ctr" indent="0" marL="0">
              <a:buNone/>
            </a:pPr>
            <a:r>
              <a:rPr lang="en-US" sz="3600" b="1" dirty="0">
                <a:solidFill>
                  <a:schemeClr val="accent3"/>
                </a:solidFill>
                <a:latin typeface="Cambria" pitchFamily="34" charset="0"/>
                <a:ea typeface="Cambria" pitchFamily="34" charset="-122"/>
                <a:cs typeface="Cambria" pitchFamily="34" charset="-120"/>
              </a:rPr>
              <a:t>640+</a:t>
            </a:r>
            <a:endParaRPr lang="en-US" sz="3600" dirty="0"/>
          </a:p>
        </p:txBody>
      </p:sp>
      <p:sp>
        <p:nvSpPr>
          <p:cNvPr id="19" name="Text 17"/>
          <p:cNvSpPr txBox="1"/>
          <p:nvPr/>
        </p:nvSpPr>
        <p:spPr>
          <a:xfrm>
            <a:off x="2651760" y="4005072"/>
            <a:ext cx="1783080" cy="411480"/>
          </a:xfrm>
          <a:prstGeom prst="rect">
            <a:avLst/>
          </a:prstGeom>
          <a:noFill/>
          <a:ln/>
        </p:spPr>
        <p:txBody>
          <a:bodyPr wrap="square" lIns="0" tIns="0" rIns="0" bIns="0" rtlCol="0" anchor="t"/>
          <a:lstStyle/>
          <a:p>
            <a:pPr algn="ctr" indent="0" marL="0">
              <a:buNone/>
            </a:pPr>
            <a:r>
              <a:rPr lang="en-US" sz="1200" dirty="0">
                <a:solidFill>
                  <a:schemeClr val="bg1"/>
                </a:solidFill>
              </a:rPr>
              <a:t>interactive lessons</a:t>
            </a:r>
            <a:endParaRPr lang="en-US" sz="1200" dirty="0"/>
          </a:p>
        </p:txBody>
      </p:sp>
      <p:sp>
        <p:nvSpPr>
          <p:cNvPr id="20" name="integrationacademy.ca · Grades 9–12 stat 25,000+"/>
          <p:cNvSpPr/>
          <p:nvPr/>
        </p:nvSpPr>
        <p:spPr>
          <a:xfrm>
            <a:off x="4617720" y="3364992"/>
            <a:ext cx="1965960" cy="1097280"/>
          </a:xfrm>
          <a:prstGeom prst="roundRect">
            <a:avLst>
              <a:gd name="adj" fmla="val 8333"/>
            </a:avLst>
          </a:prstGeom>
          <a:solidFill>
            <a:schemeClr val="accent4"/>
          </a:solidFill>
          <a:ln w="12700">
            <a:solidFill>
              <a:srgbClr val="1F4B38"/>
            </a:solidFill>
            <a:prstDash val="solid"/>
          </a:ln>
        </p:spPr>
      </p:sp>
      <p:sp>
        <p:nvSpPr>
          <p:cNvPr id="21" name="Text 19"/>
          <p:cNvSpPr txBox="1"/>
          <p:nvPr/>
        </p:nvSpPr>
        <p:spPr>
          <a:xfrm>
            <a:off x="4617720" y="3429000"/>
            <a:ext cx="1965960" cy="594360"/>
          </a:xfrm>
          <a:prstGeom prst="rect">
            <a:avLst/>
          </a:prstGeom>
          <a:noFill/>
          <a:ln/>
        </p:spPr>
        <p:txBody>
          <a:bodyPr wrap="square" lIns="0" tIns="0" rIns="0" bIns="0" rtlCol="0" anchor="ctr"/>
          <a:lstStyle/>
          <a:p>
            <a:pPr algn="ctr" indent="0" marL="0">
              <a:buNone/>
            </a:pPr>
            <a:r>
              <a:rPr lang="en-US" sz="3600" b="1" dirty="0">
                <a:solidFill>
                  <a:schemeClr val="accent3"/>
                </a:solidFill>
                <a:latin typeface="Cambria" pitchFamily="34" charset="0"/>
                <a:ea typeface="Cambria" pitchFamily="34" charset="-122"/>
                <a:cs typeface="Cambria" pitchFamily="34" charset="-120"/>
              </a:rPr>
              <a:t>25,000+</a:t>
            </a:r>
            <a:endParaRPr lang="en-US" sz="3600" dirty="0"/>
          </a:p>
        </p:txBody>
      </p:sp>
      <p:sp>
        <p:nvSpPr>
          <p:cNvPr id="22" name="Text 20"/>
          <p:cNvSpPr txBox="1"/>
          <p:nvPr/>
        </p:nvSpPr>
        <p:spPr>
          <a:xfrm>
            <a:off x="4709160" y="4005072"/>
            <a:ext cx="1783080" cy="411480"/>
          </a:xfrm>
          <a:prstGeom prst="rect">
            <a:avLst/>
          </a:prstGeom>
          <a:noFill/>
          <a:ln/>
        </p:spPr>
        <p:txBody>
          <a:bodyPr wrap="square" lIns="0" tIns="0" rIns="0" bIns="0" rtlCol="0" anchor="t"/>
          <a:lstStyle/>
          <a:p>
            <a:pPr algn="ctr" indent="0" marL="0">
              <a:buNone/>
            </a:pPr>
            <a:r>
              <a:rPr lang="en-US" sz="1200" dirty="0">
                <a:solidFill>
                  <a:schemeClr val="bg1"/>
                </a:solidFill>
              </a:rPr>
              <a:t>practice questions</a:t>
            </a:r>
            <a:endParaRPr lang="en-US" sz="1200" dirty="0"/>
          </a:p>
        </p:txBody>
      </p:sp>
      <p:sp>
        <p:nvSpPr>
          <p:cNvPr id="23" name="integrationacademy.ca · Grades 9–12 stat 600+"/>
          <p:cNvSpPr/>
          <p:nvPr/>
        </p:nvSpPr>
        <p:spPr>
          <a:xfrm>
            <a:off x="6675120" y="3364992"/>
            <a:ext cx="1965960" cy="1097280"/>
          </a:xfrm>
          <a:prstGeom prst="roundRect">
            <a:avLst>
              <a:gd name="adj" fmla="val 8333"/>
            </a:avLst>
          </a:prstGeom>
          <a:solidFill>
            <a:schemeClr val="accent4"/>
          </a:solidFill>
          <a:ln w="12700">
            <a:solidFill>
              <a:srgbClr val="1F4B38"/>
            </a:solidFill>
            <a:prstDash val="solid"/>
          </a:ln>
        </p:spPr>
      </p:sp>
      <p:sp>
        <p:nvSpPr>
          <p:cNvPr id="24" name="Text 22"/>
          <p:cNvSpPr txBox="1"/>
          <p:nvPr/>
        </p:nvSpPr>
        <p:spPr>
          <a:xfrm>
            <a:off x="6675120" y="3429000"/>
            <a:ext cx="1965960" cy="594360"/>
          </a:xfrm>
          <a:prstGeom prst="rect">
            <a:avLst/>
          </a:prstGeom>
          <a:noFill/>
          <a:ln/>
        </p:spPr>
        <p:txBody>
          <a:bodyPr wrap="square" lIns="0" tIns="0" rIns="0" bIns="0" rtlCol="0" anchor="ctr"/>
          <a:lstStyle/>
          <a:p>
            <a:pPr algn="ctr" indent="0" marL="0">
              <a:buNone/>
            </a:pPr>
            <a:r>
              <a:rPr lang="en-US" sz="3600" b="1" dirty="0">
                <a:solidFill>
                  <a:schemeClr val="accent3"/>
                </a:solidFill>
                <a:latin typeface="Cambria" pitchFamily="34" charset="0"/>
                <a:ea typeface="Cambria" pitchFamily="34" charset="-122"/>
                <a:cs typeface="Cambria" pitchFamily="34" charset="-120"/>
              </a:rPr>
              <a:t>600+</a:t>
            </a:r>
            <a:endParaRPr lang="en-US" sz="3600" dirty="0"/>
          </a:p>
        </p:txBody>
      </p:sp>
      <p:sp>
        <p:nvSpPr>
          <p:cNvPr id="25" name="Text 23"/>
          <p:cNvSpPr txBox="1"/>
          <p:nvPr/>
        </p:nvSpPr>
        <p:spPr>
          <a:xfrm>
            <a:off x="6766560" y="4005072"/>
            <a:ext cx="1783080" cy="411480"/>
          </a:xfrm>
          <a:prstGeom prst="rect">
            <a:avLst/>
          </a:prstGeom>
          <a:noFill/>
          <a:ln/>
        </p:spPr>
        <p:txBody>
          <a:bodyPr wrap="square" lIns="0" tIns="0" rIns="0" bIns="0" rtlCol="0" anchor="t"/>
          <a:lstStyle/>
          <a:p>
            <a:pPr algn="ctr" indent="0" marL="0">
              <a:buNone/>
            </a:pPr>
            <a:r>
              <a:rPr lang="en-US" sz="1200" dirty="0">
                <a:solidFill>
                  <a:schemeClr val="bg1"/>
                </a:solidFill>
              </a:rPr>
              <a:t>worksheets</a:t>
            </a:r>
            <a:endParaRPr lang="en-US" sz="12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7D4C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For students: every expectation, every strand</a:t>
            </a:r>
            <a:endParaRPr lang="en-US" sz="3000" dirty="0"/>
          </a:p>
        </p:txBody>
      </p:sp>
      <p:sp>
        <p:nvSpPr>
          <p:cNvPr id="3" name="Text 1"/>
          <p:cNvSpPr txBox="1"/>
          <p:nvPr/>
        </p:nvSpPr>
        <p:spPr>
          <a:xfrm>
            <a:off x="457200" y="1097280"/>
            <a:ext cx="8229600" cy="320040"/>
          </a:xfrm>
          <a:prstGeom prst="rect">
            <a:avLst/>
          </a:prstGeom>
          <a:noFill/>
          <a:ln/>
        </p:spPr>
        <p:txBody>
          <a:bodyPr wrap="square" lIns="0" tIns="0" rIns="0" bIns="0" rtlCol="0" anchor="ctr"/>
          <a:lstStyle/>
          <a:p>
            <a:pPr indent="0" marL="0">
              <a:buNone/>
            </a:pPr>
            <a:r>
              <a:rPr lang="en-US" sz="1400" dirty="0">
                <a:solidFill>
                  <a:schemeClr val="accent5"/>
                </a:solidFill>
              </a:rPr>
              <a:t>integrationacademy.org · Kindergarten to Grade 8. Content is organized by Ontario curriculum expectation.</a:t>
            </a:r>
            <a:endParaRPr lang="en-US" sz="1400" dirty="0"/>
          </a:p>
        </p:txBody>
      </p:sp>
      <p:sp>
        <p:nvSpPr>
          <p:cNvPr id="4" name="strand Number"/>
          <p:cNvSpPr/>
          <p:nvPr/>
        </p:nvSpPr>
        <p:spPr>
          <a:xfrm>
            <a:off x="457200" y="1554480"/>
            <a:ext cx="1234440" cy="365760"/>
          </a:xfrm>
          <a:prstGeom prst="roundRect">
            <a:avLst>
              <a:gd name="adj" fmla="val 50000"/>
            </a:avLst>
          </a:prstGeom>
          <a:solidFill>
            <a:schemeClr val="accent1"/>
          </a:solidFill>
          <a:ln w="12700">
            <a:solidFill>
              <a:schemeClr val="accent1"/>
            </a:solidFill>
            <a:prstDash val="solid"/>
          </a:ln>
        </p:spPr>
      </p:sp>
      <p:sp>
        <p:nvSpPr>
          <p:cNvPr id="5" name="Text 3"/>
          <p:cNvSpPr txBox="1"/>
          <p:nvPr/>
        </p:nvSpPr>
        <p:spPr>
          <a:xfrm>
            <a:off x="457200" y="1554480"/>
            <a:ext cx="1234440" cy="365760"/>
          </a:xfrm>
          <a:prstGeom prst="rect">
            <a:avLst/>
          </a:prstGeom>
          <a:noFill/>
          <a:ln/>
        </p:spPr>
        <p:txBody>
          <a:bodyPr wrap="square" lIns="0" tIns="0" rIns="0" bIns="0" rtlCol="0" anchor="ctr"/>
          <a:lstStyle/>
          <a:p>
            <a:pPr algn="ctr" indent="0" marL="0">
              <a:buNone/>
            </a:pPr>
            <a:r>
              <a:rPr lang="en-US" sz="1400" b="1" dirty="0">
                <a:solidFill>
                  <a:schemeClr val="bg1"/>
                </a:solidFill>
              </a:rPr>
              <a:t>Number</a:t>
            </a:r>
            <a:endParaRPr lang="en-US" sz="1400" dirty="0"/>
          </a:p>
        </p:txBody>
      </p:sp>
      <p:sp>
        <p:nvSpPr>
          <p:cNvPr id="6" name="strand Algebra"/>
          <p:cNvSpPr/>
          <p:nvPr/>
        </p:nvSpPr>
        <p:spPr>
          <a:xfrm>
            <a:off x="1783080" y="1554480"/>
            <a:ext cx="960120" cy="365760"/>
          </a:xfrm>
          <a:prstGeom prst="roundRect">
            <a:avLst>
              <a:gd name="adj" fmla="val 50000"/>
            </a:avLst>
          </a:prstGeom>
          <a:solidFill>
            <a:schemeClr val="accent1"/>
          </a:solidFill>
          <a:ln w="12700">
            <a:solidFill>
              <a:schemeClr val="accent1"/>
            </a:solidFill>
            <a:prstDash val="solid"/>
          </a:ln>
        </p:spPr>
      </p:sp>
      <p:sp>
        <p:nvSpPr>
          <p:cNvPr id="7" name="Text 5"/>
          <p:cNvSpPr txBox="1"/>
          <p:nvPr/>
        </p:nvSpPr>
        <p:spPr>
          <a:xfrm>
            <a:off x="1783080" y="1554480"/>
            <a:ext cx="960120" cy="365760"/>
          </a:xfrm>
          <a:prstGeom prst="rect">
            <a:avLst/>
          </a:prstGeom>
          <a:noFill/>
          <a:ln/>
        </p:spPr>
        <p:txBody>
          <a:bodyPr wrap="square" lIns="0" tIns="0" rIns="0" bIns="0" rtlCol="0" anchor="ctr"/>
          <a:lstStyle/>
          <a:p>
            <a:pPr algn="ctr" indent="0" marL="0">
              <a:buNone/>
            </a:pPr>
            <a:r>
              <a:rPr lang="en-US" sz="1400" b="1" dirty="0">
                <a:solidFill>
                  <a:schemeClr val="bg1"/>
                </a:solidFill>
              </a:rPr>
              <a:t>Algebra</a:t>
            </a:r>
            <a:endParaRPr lang="en-US" sz="1400" dirty="0"/>
          </a:p>
        </p:txBody>
      </p:sp>
      <p:sp>
        <p:nvSpPr>
          <p:cNvPr id="8" name="strand Data"/>
          <p:cNvSpPr/>
          <p:nvPr/>
        </p:nvSpPr>
        <p:spPr>
          <a:xfrm>
            <a:off x="2834640" y="1554480"/>
            <a:ext cx="868680" cy="365760"/>
          </a:xfrm>
          <a:prstGeom prst="roundRect">
            <a:avLst>
              <a:gd name="adj" fmla="val 50000"/>
            </a:avLst>
          </a:prstGeom>
          <a:solidFill>
            <a:schemeClr val="accent1"/>
          </a:solidFill>
          <a:ln w="12700">
            <a:solidFill>
              <a:schemeClr val="accent1"/>
            </a:solidFill>
            <a:prstDash val="solid"/>
          </a:ln>
        </p:spPr>
      </p:sp>
      <p:sp>
        <p:nvSpPr>
          <p:cNvPr id="9" name="Text 7"/>
          <p:cNvSpPr txBox="1"/>
          <p:nvPr/>
        </p:nvSpPr>
        <p:spPr>
          <a:xfrm>
            <a:off x="2834640" y="1554480"/>
            <a:ext cx="868680" cy="365760"/>
          </a:xfrm>
          <a:prstGeom prst="rect">
            <a:avLst/>
          </a:prstGeom>
          <a:noFill/>
          <a:ln/>
        </p:spPr>
        <p:txBody>
          <a:bodyPr wrap="square" lIns="0" tIns="0" rIns="0" bIns="0" rtlCol="0" anchor="ctr"/>
          <a:lstStyle/>
          <a:p>
            <a:pPr algn="ctr" indent="0" marL="0">
              <a:buNone/>
            </a:pPr>
            <a:r>
              <a:rPr lang="en-US" sz="1400" b="1" dirty="0">
                <a:solidFill>
                  <a:schemeClr val="bg1"/>
                </a:solidFill>
              </a:rPr>
              <a:t>Data</a:t>
            </a:r>
            <a:endParaRPr lang="en-US" sz="1400" dirty="0"/>
          </a:p>
        </p:txBody>
      </p:sp>
      <p:sp>
        <p:nvSpPr>
          <p:cNvPr id="10" name="strand Spatial Sense"/>
          <p:cNvSpPr/>
          <p:nvPr/>
        </p:nvSpPr>
        <p:spPr>
          <a:xfrm>
            <a:off x="3886200" y="1554480"/>
            <a:ext cx="1508760" cy="365760"/>
          </a:xfrm>
          <a:prstGeom prst="roundRect">
            <a:avLst>
              <a:gd name="adj" fmla="val 50000"/>
            </a:avLst>
          </a:prstGeom>
          <a:solidFill>
            <a:schemeClr val="accent1"/>
          </a:solidFill>
          <a:ln w="12700">
            <a:solidFill>
              <a:schemeClr val="accent1"/>
            </a:solidFill>
            <a:prstDash val="solid"/>
          </a:ln>
        </p:spPr>
      </p:sp>
      <p:sp>
        <p:nvSpPr>
          <p:cNvPr id="11" name="Text 9"/>
          <p:cNvSpPr txBox="1"/>
          <p:nvPr/>
        </p:nvSpPr>
        <p:spPr>
          <a:xfrm>
            <a:off x="3886200" y="1554480"/>
            <a:ext cx="1508760" cy="365760"/>
          </a:xfrm>
          <a:prstGeom prst="rect">
            <a:avLst/>
          </a:prstGeom>
          <a:noFill/>
          <a:ln/>
        </p:spPr>
        <p:txBody>
          <a:bodyPr wrap="square" lIns="0" tIns="0" rIns="0" bIns="0" rtlCol="0" anchor="ctr"/>
          <a:lstStyle/>
          <a:p>
            <a:pPr algn="ctr" indent="0" marL="0">
              <a:buNone/>
            </a:pPr>
            <a:r>
              <a:rPr lang="en-US" sz="1400" b="1" dirty="0">
                <a:solidFill>
                  <a:schemeClr val="bg1"/>
                </a:solidFill>
              </a:rPr>
              <a:t>Spatial Sense</a:t>
            </a:r>
            <a:endParaRPr lang="en-US" sz="1400" dirty="0"/>
          </a:p>
        </p:txBody>
      </p:sp>
      <p:sp>
        <p:nvSpPr>
          <p:cNvPr id="12" name="strand Financial Literacy"/>
          <p:cNvSpPr/>
          <p:nvPr/>
        </p:nvSpPr>
        <p:spPr>
          <a:xfrm>
            <a:off x="5486400" y="1554480"/>
            <a:ext cx="1828800" cy="365760"/>
          </a:xfrm>
          <a:prstGeom prst="roundRect">
            <a:avLst>
              <a:gd name="adj" fmla="val 50000"/>
            </a:avLst>
          </a:prstGeom>
          <a:solidFill>
            <a:schemeClr val="accent1"/>
          </a:solidFill>
          <a:ln w="12700">
            <a:solidFill>
              <a:schemeClr val="accent1"/>
            </a:solidFill>
            <a:prstDash val="solid"/>
          </a:ln>
        </p:spPr>
      </p:sp>
      <p:sp>
        <p:nvSpPr>
          <p:cNvPr id="13" name="Text 11"/>
          <p:cNvSpPr txBox="1"/>
          <p:nvPr/>
        </p:nvSpPr>
        <p:spPr>
          <a:xfrm>
            <a:off x="5486400" y="1554480"/>
            <a:ext cx="1828800" cy="365760"/>
          </a:xfrm>
          <a:prstGeom prst="rect">
            <a:avLst/>
          </a:prstGeom>
          <a:noFill/>
          <a:ln/>
        </p:spPr>
        <p:txBody>
          <a:bodyPr wrap="square" lIns="0" tIns="0" rIns="0" bIns="0" rtlCol="0" anchor="ctr"/>
          <a:lstStyle/>
          <a:p>
            <a:pPr algn="ctr" indent="0" marL="0">
              <a:buNone/>
            </a:pPr>
            <a:r>
              <a:rPr lang="en-US" sz="1400" b="1" dirty="0">
                <a:solidFill>
                  <a:schemeClr val="bg1"/>
                </a:solidFill>
              </a:rPr>
              <a:t>Financial Literacy</a:t>
            </a:r>
            <a:endParaRPr lang="en-US" sz="1400" dirty="0"/>
          </a:p>
        </p:txBody>
      </p:sp>
      <p:sp>
        <p:nvSpPr>
          <p:cNvPr id="14" name="Text 12"/>
          <p:cNvSpPr txBox="1"/>
          <p:nvPr/>
        </p:nvSpPr>
        <p:spPr>
          <a:xfrm>
            <a:off x="457200" y="2103120"/>
            <a:ext cx="8229600" cy="32004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A complete lesson for each topic</a:t>
            </a:r>
            <a:endParaRPr lang="en-US" sz="1800" dirty="0"/>
          </a:p>
        </p:txBody>
      </p:sp>
      <p:sp>
        <p:nvSpPr>
          <p:cNvPr id="15" name="Animated video lesson card"/>
          <p:cNvSpPr/>
          <p:nvPr/>
        </p:nvSpPr>
        <p:spPr>
          <a:xfrm>
            <a:off x="457200" y="2560320"/>
            <a:ext cx="2651760" cy="1828800"/>
          </a:xfrm>
          <a:prstGeom prst="roundRect">
            <a:avLst>
              <a:gd name="adj" fmla="val 5000"/>
            </a:avLst>
          </a:prstGeom>
          <a:solidFill>
            <a:schemeClr val="bg1"/>
          </a:solidFill>
          <a:ln w="12700">
            <a:solidFill>
              <a:srgbClr val="D3DBCD"/>
            </a:solidFill>
            <a:prstDash val="solid"/>
          </a:ln>
        </p:spPr>
      </p:sp>
      <p:sp>
        <p:nvSpPr>
          <p:cNvPr id="16" name="Animated video lesson circle"/>
          <p:cNvSpPr/>
          <p:nvPr/>
        </p:nvSpPr>
        <p:spPr>
          <a:xfrm>
            <a:off x="685800" y="2743200"/>
            <a:ext cx="594360" cy="594360"/>
          </a:xfrm>
          <a:prstGeom prst="ellipse">
            <a:avLst/>
          </a:prstGeom>
          <a:solidFill>
            <a:schemeClr val="accent1"/>
          </a:solidFill>
          <a:ln w="12700">
            <a:solidFill>
              <a:schemeClr val="accent1"/>
            </a:solidFill>
            <a:prstDash val="solid"/>
          </a:ln>
        </p:spPr>
      </p:sp>
      <p:pic>
        <p:nvPicPr>
          <p:cNvPr id="17" name="Image 0" descr="Animated video lesson">    </p:cNvPr>
          <p:cNvPicPr>
            <a:picLocks noChangeAspect="1"/>
          </p:cNvPicPr>
          <p:nvPr/>
        </p:nvPicPr>
        <p:blipFill>
          <a:blip r:embed="rId1"/>
          <a:stretch>
            <a:fillRect/>
          </a:stretch>
        </p:blipFill>
        <p:spPr>
          <a:xfrm>
            <a:off x="834390" y="2891790"/>
            <a:ext cx="297180" cy="297180"/>
          </a:xfrm>
          <a:prstGeom prst="rect">
            <a:avLst/>
          </a:prstGeom>
        </p:spPr>
      </p:pic>
      <p:sp>
        <p:nvSpPr>
          <p:cNvPr id="18" name="Text 15"/>
          <p:cNvSpPr txBox="1"/>
          <p:nvPr/>
        </p:nvSpPr>
        <p:spPr>
          <a:xfrm>
            <a:off x="685800" y="3474720"/>
            <a:ext cx="2240280" cy="274320"/>
          </a:xfrm>
          <a:prstGeom prst="rect">
            <a:avLst/>
          </a:prstGeom>
          <a:noFill/>
          <a:ln/>
        </p:spPr>
        <p:txBody>
          <a:bodyPr wrap="square" lIns="0" tIns="0" rIns="0" bIns="0" rtlCol="0" anchor="ctr"/>
          <a:lstStyle/>
          <a:p>
            <a:pPr indent="0" marL="0">
              <a:buNone/>
            </a:pPr>
            <a:r>
              <a:rPr lang="en-US" sz="1600" b="1" dirty="0">
                <a:solidFill>
                  <a:schemeClr val="tx1"/>
                </a:solidFill>
              </a:rPr>
              <a:t>Animated video lesson</a:t>
            </a:r>
            <a:endParaRPr lang="en-US" sz="1600" dirty="0"/>
          </a:p>
        </p:txBody>
      </p:sp>
      <p:sp>
        <p:nvSpPr>
          <p:cNvPr id="19" name="Text 16"/>
          <p:cNvSpPr txBox="1"/>
          <p:nvPr/>
        </p:nvSpPr>
        <p:spPr>
          <a:xfrm>
            <a:off x="685800" y="3767328"/>
            <a:ext cx="2240280" cy="548640"/>
          </a:xfrm>
          <a:prstGeom prst="rect">
            <a:avLst/>
          </a:prstGeom>
          <a:noFill/>
          <a:ln/>
        </p:spPr>
        <p:txBody>
          <a:bodyPr wrap="square" lIns="0" tIns="0" rIns="0" bIns="0" rtlCol="0" anchor="t"/>
          <a:lstStyle/>
          <a:p>
            <a:pPr indent="0" marL="0">
              <a:buNone/>
            </a:pPr>
            <a:r>
              <a:rPr lang="en-US" sz="1400" dirty="0">
                <a:solidFill>
                  <a:schemeClr val="accent5"/>
                </a:solidFill>
              </a:rPr>
              <a:t>A short video introduces the idea.</a:t>
            </a:r>
            <a:endParaRPr lang="en-US" sz="1400" dirty="0"/>
          </a:p>
        </p:txBody>
      </p:sp>
      <p:sp>
        <p:nvSpPr>
          <p:cNvPr id="20" name="Concept slides card"/>
          <p:cNvSpPr/>
          <p:nvPr/>
        </p:nvSpPr>
        <p:spPr>
          <a:xfrm>
            <a:off x="3246120" y="2560320"/>
            <a:ext cx="2651760" cy="1828800"/>
          </a:xfrm>
          <a:prstGeom prst="roundRect">
            <a:avLst>
              <a:gd name="adj" fmla="val 5000"/>
            </a:avLst>
          </a:prstGeom>
          <a:solidFill>
            <a:schemeClr val="bg1"/>
          </a:solidFill>
          <a:ln w="12700">
            <a:solidFill>
              <a:srgbClr val="D3DBCD"/>
            </a:solidFill>
            <a:prstDash val="solid"/>
          </a:ln>
        </p:spPr>
      </p:sp>
      <p:sp>
        <p:nvSpPr>
          <p:cNvPr id="21" name="Concept slides circle"/>
          <p:cNvSpPr/>
          <p:nvPr/>
        </p:nvSpPr>
        <p:spPr>
          <a:xfrm>
            <a:off x="3474720" y="2743200"/>
            <a:ext cx="594360" cy="594360"/>
          </a:xfrm>
          <a:prstGeom prst="ellipse">
            <a:avLst/>
          </a:prstGeom>
          <a:solidFill>
            <a:schemeClr val="accent1"/>
          </a:solidFill>
          <a:ln w="12700">
            <a:solidFill>
              <a:schemeClr val="accent1"/>
            </a:solidFill>
            <a:prstDash val="solid"/>
          </a:ln>
        </p:spPr>
      </p:sp>
      <p:pic>
        <p:nvPicPr>
          <p:cNvPr id="22" name="Image 1" descr="Concept slides">    </p:cNvPr>
          <p:cNvPicPr>
            <a:picLocks noChangeAspect="1"/>
          </p:cNvPicPr>
          <p:nvPr/>
        </p:nvPicPr>
        <p:blipFill>
          <a:blip r:embed="rId2"/>
          <a:stretch>
            <a:fillRect/>
          </a:stretch>
        </p:blipFill>
        <p:spPr>
          <a:xfrm>
            <a:off x="3623310" y="2891790"/>
            <a:ext cx="297180" cy="297180"/>
          </a:xfrm>
          <a:prstGeom prst="rect">
            <a:avLst/>
          </a:prstGeom>
        </p:spPr>
      </p:pic>
      <p:sp>
        <p:nvSpPr>
          <p:cNvPr id="23" name="Text 19"/>
          <p:cNvSpPr txBox="1"/>
          <p:nvPr/>
        </p:nvSpPr>
        <p:spPr>
          <a:xfrm>
            <a:off x="3474720" y="3474720"/>
            <a:ext cx="2240280" cy="274320"/>
          </a:xfrm>
          <a:prstGeom prst="rect">
            <a:avLst/>
          </a:prstGeom>
          <a:noFill/>
          <a:ln/>
        </p:spPr>
        <p:txBody>
          <a:bodyPr wrap="square" lIns="0" tIns="0" rIns="0" bIns="0" rtlCol="0" anchor="ctr"/>
          <a:lstStyle/>
          <a:p>
            <a:pPr indent="0" marL="0">
              <a:buNone/>
            </a:pPr>
            <a:r>
              <a:rPr lang="en-US" sz="1600" b="1" dirty="0">
                <a:solidFill>
                  <a:schemeClr val="tx1"/>
                </a:solidFill>
              </a:rPr>
              <a:t>Concept slides</a:t>
            </a:r>
            <a:endParaRPr lang="en-US" sz="1600" dirty="0"/>
          </a:p>
        </p:txBody>
      </p:sp>
      <p:sp>
        <p:nvSpPr>
          <p:cNvPr id="24" name="Text 20"/>
          <p:cNvSpPr txBox="1"/>
          <p:nvPr/>
        </p:nvSpPr>
        <p:spPr>
          <a:xfrm>
            <a:off x="3474720" y="3767328"/>
            <a:ext cx="2240280" cy="548640"/>
          </a:xfrm>
          <a:prstGeom prst="rect">
            <a:avLst/>
          </a:prstGeom>
          <a:noFill/>
          <a:ln/>
        </p:spPr>
        <p:txBody>
          <a:bodyPr wrap="square" lIns="0" tIns="0" rIns="0" bIns="0" rtlCol="0" anchor="t"/>
          <a:lstStyle/>
          <a:p>
            <a:pPr indent="0" marL="0">
              <a:buNone/>
            </a:pPr>
            <a:r>
              <a:rPr lang="en-US" sz="1400" dirty="0">
                <a:solidFill>
                  <a:schemeClr val="accent5"/>
                </a:solidFill>
              </a:rPr>
              <a:t>Picture-based slides, to present or download.</a:t>
            </a:r>
            <a:endParaRPr lang="en-US" sz="1400" dirty="0"/>
          </a:p>
        </p:txBody>
      </p:sp>
      <p:sp>
        <p:nvSpPr>
          <p:cNvPr id="25" name="Worksheet in three levels card"/>
          <p:cNvSpPr/>
          <p:nvPr/>
        </p:nvSpPr>
        <p:spPr>
          <a:xfrm>
            <a:off x="6035040" y="2560320"/>
            <a:ext cx="2651760" cy="1828800"/>
          </a:xfrm>
          <a:prstGeom prst="roundRect">
            <a:avLst>
              <a:gd name="adj" fmla="val 5000"/>
            </a:avLst>
          </a:prstGeom>
          <a:solidFill>
            <a:schemeClr val="bg1"/>
          </a:solidFill>
          <a:ln w="12700">
            <a:solidFill>
              <a:srgbClr val="D3DBCD"/>
            </a:solidFill>
            <a:prstDash val="solid"/>
          </a:ln>
        </p:spPr>
      </p:sp>
      <p:sp>
        <p:nvSpPr>
          <p:cNvPr id="26" name="Worksheet in three levels circle"/>
          <p:cNvSpPr/>
          <p:nvPr/>
        </p:nvSpPr>
        <p:spPr>
          <a:xfrm>
            <a:off x="6263640" y="2743200"/>
            <a:ext cx="594360" cy="594360"/>
          </a:xfrm>
          <a:prstGeom prst="ellipse">
            <a:avLst/>
          </a:prstGeom>
          <a:solidFill>
            <a:schemeClr val="accent1"/>
          </a:solidFill>
          <a:ln w="12700">
            <a:solidFill>
              <a:schemeClr val="accent1"/>
            </a:solidFill>
            <a:prstDash val="solid"/>
          </a:ln>
        </p:spPr>
      </p:sp>
      <p:pic>
        <p:nvPicPr>
          <p:cNvPr id="27" name="Image 2" descr="Worksheet in three levels">    </p:cNvPr>
          <p:cNvPicPr>
            <a:picLocks noChangeAspect="1"/>
          </p:cNvPicPr>
          <p:nvPr/>
        </p:nvPicPr>
        <p:blipFill>
          <a:blip r:embed="rId3"/>
          <a:stretch>
            <a:fillRect/>
          </a:stretch>
        </p:blipFill>
        <p:spPr>
          <a:xfrm>
            <a:off x="6412230" y="2891790"/>
            <a:ext cx="297180" cy="297180"/>
          </a:xfrm>
          <a:prstGeom prst="rect">
            <a:avLst/>
          </a:prstGeom>
        </p:spPr>
      </p:pic>
      <p:sp>
        <p:nvSpPr>
          <p:cNvPr id="28" name="Text 23"/>
          <p:cNvSpPr txBox="1"/>
          <p:nvPr/>
        </p:nvSpPr>
        <p:spPr>
          <a:xfrm>
            <a:off x="6263640" y="3474720"/>
            <a:ext cx="2240280" cy="274320"/>
          </a:xfrm>
          <a:prstGeom prst="rect">
            <a:avLst/>
          </a:prstGeom>
          <a:noFill/>
          <a:ln/>
        </p:spPr>
        <p:txBody>
          <a:bodyPr wrap="square" lIns="0" tIns="0" rIns="0" bIns="0" rtlCol="0" anchor="ctr"/>
          <a:lstStyle/>
          <a:p>
            <a:pPr indent="0" marL="0">
              <a:buNone/>
            </a:pPr>
            <a:r>
              <a:rPr lang="en-US" sz="1600" b="1" dirty="0">
                <a:solidFill>
                  <a:schemeClr val="tx1"/>
                </a:solidFill>
              </a:rPr>
              <a:t>Worksheet in three levels</a:t>
            </a:r>
            <a:endParaRPr lang="en-US" sz="1600" dirty="0"/>
          </a:p>
        </p:txBody>
      </p:sp>
      <p:sp>
        <p:nvSpPr>
          <p:cNvPr id="29" name="Text 24"/>
          <p:cNvSpPr txBox="1"/>
          <p:nvPr/>
        </p:nvSpPr>
        <p:spPr>
          <a:xfrm>
            <a:off x="6263640" y="3767328"/>
            <a:ext cx="2240280" cy="548640"/>
          </a:xfrm>
          <a:prstGeom prst="rect">
            <a:avLst/>
          </a:prstGeom>
          <a:noFill/>
          <a:ln/>
        </p:spPr>
        <p:txBody>
          <a:bodyPr wrap="square" lIns="0" tIns="0" rIns="0" bIns="0" rtlCol="0" anchor="t"/>
          <a:lstStyle/>
          <a:p>
            <a:pPr indent="0" marL="0">
              <a:buNone/>
            </a:pPr>
            <a:r>
              <a:rPr lang="en-US" sz="1400" dirty="0">
                <a:solidFill>
                  <a:schemeClr val="accent5"/>
                </a:solidFill>
              </a:rPr>
              <a:t>Printable, or completed online with automatic marking.</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rPr>
              <a:t>For students: practice that motivates</a:t>
            </a:r>
            <a:endParaRPr lang="en-US" sz="3000" dirty="0"/>
          </a:p>
        </p:txBody>
      </p:sp>
      <p:sp>
        <p:nvSpPr>
          <p:cNvPr id="3" name="Games at three levels card"/>
          <p:cNvSpPr/>
          <p:nvPr/>
        </p:nvSpPr>
        <p:spPr>
          <a:xfrm>
            <a:off x="457200" y="1280160"/>
            <a:ext cx="4023360" cy="1463040"/>
          </a:xfrm>
          <a:prstGeom prst="roundRect">
            <a:avLst>
              <a:gd name="adj" fmla="val 6250"/>
            </a:avLst>
          </a:prstGeom>
          <a:solidFill>
            <a:schemeClr val="accent4"/>
          </a:solidFill>
          <a:ln w="12700">
            <a:solidFill>
              <a:srgbClr val="1F4B38"/>
            </a:solidFill>
            <a:prstDash val="solid"/>
          </a:ln>
        </p:spPr>
      </p:sp>
      <p:sp>
        <p:nvSpPr>
          <p:cNvPr id="4" name="Games at three levels circle"/>
          <p:cNvSpPr/>
          <p:nvPr/>
        </p:nvSpPr>
        <p:spPr>
          <a:xfrm>
            <a:off x="685800" y="1554480"/>
            <a:ext cx="640080" cy="640080"/>
          </a:xfrm>
          <a:prstGeom prst="ellipse">
            <a:avLst/>
          </a:prstGeom>
          <a:solidFill>
            <a:schemeClr val="accent2"/>
          </a:solidFill>
          <a:ln w="12700">
            <a:solidFill>
              <a:schemeClr val="accent2"/>
            </a:solidFill>
            <a:prstDash val="solid"/>
          </a:ln>
        </p:spPr>
      </p:sp>
      <p:pic>
        <p:nvPicPr>
          <p:cNvPr id="5" name="Image 0" descr="Games at three levels">    </p:cNvPr>
          <p:cNvPicPr>
            <a:picLocks noChangeAspect="1"/>
          </p:cNvPicPr>
          <p:nvPr/>
        </p:nvPicPr>
        <p:blipFill>
          <a:blip r:embed="rId1"/>
          <a:stretch>
            <a:fillRect/>
          </a:stretch>
        </p:blipFill>
        <p:spPr>
          <a:xfrm>
            <a:off x="845820" y="1714500"/>
            <a:ext cx="320040" cy="320040"/>
          </a:xfrm>
          <a:prstGeom prst="rect">
            <a:avLst/>
          </a:prstGeom>
        </p:spPr>
      </p:pic>
      <p:sp>
        <p:nvSpPr>
          <p:cNvPr id="6" name="Text 3"/>
          <p:cNvSpPr txBox="1"/>
          <p:nvPr/>
        </p:nvSpPr>
        <p:spPr>
          <a:xfrm>
            <a:off x="1508760" y="1463040"/>
            <a:ext cx="2834640" cy="320040"/>
          </a:xfrm>
          <a:prstGeom prst="rect">
            <a:avLst/>
          </a:prstGeom>
          <a:noFill/>
          <a:ln/>
        </p:spPr>
        <p:txBody>
          <a:bodyPr wrap="square" lIns="0" tIns="0" rIns="0" bIns="0" rtlCol="0" anchor="ctr"/>
          <a:lstStyle/>
          <a:p>
            <a:pPr indent="0" marL="0">
              <a:buNone/>
            </a:pPr>
            <a:r>
              <a:rPr lang="en-US" sz="1800" b="1" dirty="0">
                <a:solidFill>
                  <a:schemeClr val="accent2"/>
                </a:solidFill>
              </a:rPr>
              <a:t>Games at three levels</a:t>
            </a:r>
            <a:endParaRPr lang="en-US" sz="1800" dirty="0"/>
          </a:p>
        </p:txBody>
      </p:sp>
      <p:sp>
        <p:nvSpPr>
          <p:cNvPr id="7" name="Text 4"/>
          <p:cNvSpPr txBox="1"/>
          <p:nvPr/>
        </p:nvSpPr>
        <p:spPr>
          <a:xfrm>
            <a:off x="1508760" y="1828800"/>
            <a:ext cx="2834640" cy="777240"/>
          </a:xfrm>
          <a:prstGeom prst="rect">
            <a:avLst/>
          </a:prstGeom>
          <a:noFill/>
          <a:ln/>
        </p:spPr>
        <p:txBody>
          <a:bodyPr wrap="square" lIns="0" tIns="0" rIns="0" bIns="0" rtlCol="0" anchor="t"/>
          <a:lstStyle/>
          <a:p>
            <a:pPr indent="0" marL="0">
              <a:buNone/>
            </a:pPr>
            <a:r>
              <a:rPr lang="en-US" sz="1400" dirty="0">
                <a:solidFill>
                  <a:schemeClr val="bg1"/>
                </a:solidFill>
              </a:rPr>
              <a:t>Easy, Medium and Hard for each expectation, so every student starts where they can succeed.</a:t>
            </a:r>
            <a:endParaRPr lang="en-US" sz="1400" dirty="0"/>
          </a:p>
        </p:txBody>
      </p:sp>
      <p:sp>
        <p:nvSpPr>
          <p:cNvPr id="8" name="Arcade-style games card"/>
          <p:cNvSpPr/>
          <p:nvPr/>
        </p:nvSpPr>
        <p:spPr>
          <a:xfrm>
            <a:off x="4663440" y="1280160"/>
            <a:ext cx="4023360" cy="1463040"/>
          </a:xfrm>
          <a:prstGeom prst="roundRect">
            <a:avLst>
              <a:gd name="adj" fmla="val 6250"/>
            </a:avLst>
          </a:prstGeom>
          <a:solidFill>
            <a:schemeClr val="accent4"/>
          </a:solidFill>
          <a:ln w="12700">
            <a:solidFill>
              <a:srgbClr val="1F4B38"/>
            </a:solidFill>
            <a:prstDash val="solid"/>
          </a:ln>
        </p:spPr>
      </p:sp>
      <p:sp>
        <p:nvSpPr>
          <p:cNvPr id="9" name="Arcade-style games circle"/>
          <p:cNvSpPr/>
          <p:nvPr/>
        </p:nvSpPr>
        <p:spPr>
          <a:xfrm>
            <a:off x="4892040" y="1554480"/>
            <a:ext cx="640080" cy="640080"/>
          </a:xfrm>
          <a:prstGeom prst="ellipse">
            <a:avLst/>
          </a:prstGeom>
          <a:solidFill>
            <a:schemeClr val="accent2"/>
          </a:solidFill>
          <a:ln w="12700">
            <a:solidFill>
              <a:schemeClr val="accent2"/>
            </a:solidFill>
            <a:prstDash val="solid"/>
          </a:ln>
        </p:spPr>
      </p:sp>
      <p:pic>
        <p:nvPicPr>
          <p:cNvPr id="10" name="Image 1" descr="Arcade-style games">    </p:cNvPr>
          <p:cNvPicPr>
            <a:picLocks noChangeAspect="1"/>
          </p:cNvPicPr>
          <p:nvPr/>
        </p:nvPicPr>
        <p:blipFill>
          <a:blip r:embed="rId2"/>
          <a:stretch>
            <a:fillRect/>
          </a:stretch>
        </p:blipFill>
        <p:spPr>
          <a:xfrm>
            <a:off x="5052060" y="1714500"/>
            <a:ext cx="320040" cy="320040"/>
          </a:xfrm>
          <a:prstGeom prst="rect">
            <a:avLst/>
          </a:prstGeom>
        </p:spPr>
      </p:pic>
      <p:sp>
        <p:nvSpPr>
          <p:cNvPr id="11" name="Text 7"/>
          <p:cNvSpPr txBox="1"/>
          <p:nvPr/>
        </p:nvSpPr>
        <p:spPr>
          <a:xfrm>
            <a:off x="5715000" y="1463040"/>
            <a:ext cx="2834640" cy="320040"/>
          </a:xfrm>
          <a:prstGeom prst="rect">
            <a:avLst/>
          </a:prstGeom>
          <a:noFill/>
          <a:ln/>
        </p:spPr>
        <p:txBody>
          <a:bodyPr wrap="square" lIns="0" tIns="0" rIns="0" bIns="0" rtlCol="0" anchor="ctr"/>
          <a:lstStyle/>
          <a:p>
            <a:pPr indent="0" marL="0">
              <a:buNone/>
            </a:pPr>
            <a:r>
              <a:rPr lang="en-US" sz="1800" b="1" dirty="0">
                <a:solidFill>
                  <a:schemeClr val="accent2"/>
                </a:solidFill>
              </a:rPr>
              <a:t>Arcade-style games</a:t>
            </a:r>
            <a:endParaRPr lang="en-US" sz="1800" dirty="0"/>
          </a:p>
        </p:txBody>
      </p:sp>
      <p:sp>
        <p:nvSpPr>
          <p:cNvPr id="12" name="Text 8"/>
          <p:cNvSpPr txBox="1"/>
          <p:nvPr/>
        </p:nvSpPr>
        <p:spPr>
          <a:xfrm>
            <a:off x="5715000" y="1828800"/>
            <a:ext cx="2834640" cy="777240"/>
          </a:xfrm>
          <a:prstGeom prst="rect">
            <a:avLst/>
          </a:prstGeom>
          <a:noFill/>
          <a:ln/>
        </p:spPr>
        <p:txBody>
          <a:bodyPr wrap="square" lIns="0" tIns="0" rIns="0" bIns="0" rtlCol="0" anchor="t"/>
          <a:lstStyle/>
          <a:p>
            <a:pPr indent="0" marL="0">
              <a:buNone/>
            </a:pPr>
            <a:r>
              <a:rPr lang="en-US" sz="1400" dirty="0">
                <a:solidFill>
                  <a:schemeClr val="bg1"/>
                </a:solidFill>
              </a:rPr>
              <a:t>Fast, replayable games that turn practice into play.</a:t>
            </a:r>
            <a:endParaRPr lang="en-US" sz="1400" dirty="0"/>
          </a:p>
        </p:txBody>
      </p:sp>
      <p:sp>
        <p:nvSpPr>
          <p:cNvPr id="13" name="EQAO preparation card"/>
          <p:cNvSpPr/>
          <p:nvPr/>
        </p:nvSpPr>
        <p:spPr>
          <a:xfrm>
            <a:off x="457200" y="2926080"/>
            <a:ext cx="4023360" cy="1463040"/>
          </a:xfrm>
          <a:prstGeom prst="roundRect">
            <a:avLst>
              <a:gd name="adj" fmla="val 6250"/>
            </a:avLst>
          </a:prstGeom>
          <a:solidFill>
            <a:schemeClr val="accent4"/>
          </a:solidFill>
          <a:ln w="12700">
            <a:solidFill>
              <a:srgbClr val="1F4B38"/>
            </a:solidFill>
            <a:prstDash val="solid"/>
          </a:ln>
        </p:spPr>
      </p:sp>
      <p:sp>
        <p:nvSpPr>
          <p:cNvPr id="14" name="EQAO preparation circle"/>
          <p:cNvSpPr/>
          <p:nvPr/>
        </p:nvSpPr>
        <p:spPr>
          <a:xfrm>
            <a:off x="685800" y="3200400"/>
            <a:ext cx="640080" cy="640080"/>
          </a:xfrm>
          <a:prstGeom prst="ellipse">
            <a:avLst/>
          </a:prstGeom>
          <a:solidFill>
            <a:schemeClr val="accent2"/>
          </a:solidFill>
          <a:ln w="12700">
            <a:solidFill>
              <a:schemeClr val="accent2"/>
            </a:solidFill>
            <a:prstDash val="solid"/>
          </a:ln>
        </p:spPr>
      </p:sp>
      <p:pic>
        <p:nvPicPr>
          <p:cNvPr id="15" name="Image 2" descr="EQAO preparation">    </p:cNvPr>
          <p:cNvPicPr>
            <a:picLocks noChangeAspect="1"/>
          </p:cNvPicPr>
          <p:nvPr/>
        </p:nvPicPr>
        <p:blipFill>
          <a:blip r:embed="rId3"/>
          <a:stretch>
            <a:fillRect/>
          </a:stretch>
        </p:blipFill>
        <p:spPr>
          <a:xfrm>
            <a:off x="845820" y="3360420"/>
            <a:ext cx="320040" cy="320040"/>
          </a:xfrm>
          <a:prstGeom prst="rect">
            <a:avLst/>
          </a:prstGeom>
        </p:spPr>
      </p:pic>
      <p:sp>
        <p:nvSpPr>
          <p:cNvPr id="16" name="Text 11"/>
          <p:cNvSpPr txBox="1"/>
          <p:nvPr/>
        </p:nvSpPr>
        <p:spPr>
          <a:xfrm>
            <a:off x="1508760" y="3108960"/>
            <a:ext cx="2834640" cy="320040"/>
          </a:xfrm>
          <a:prstGeom prst="rect">
            <a:avLst/>
          </a:prstGeom>
          <a:noFill/>
          <a:ln/>
        </p:spPr>
        <p:txBody>
          <a:bodyPr wrap="square" lIns="0" tIns="0" rIns="0" bIns="0" rtlCol="0" anchor="ctr"/>
          <a:lstStyle/>
          <a:p>
            <a:pPr indent="0" marL="0">
              <a:buNone/>
            </a:pPr>
            <a:r>
              <a:rPr lang="en-US" sz="1800" b="1" dirty="0">
                <a:solidFill>
                  <a:schemeClr val="accent2"/>
                </a:solidFill>
              </a:rPr>
              <a:t>EQAO preparation</a:t>
            </a:r>
            <a:endParaRPr lang="en-US" sz="1800" dirty="0"/>
          </a:p>
        </p:txBody>
      </p:sp>
      <p:sp>
        <p:nvSpPr>
          <p:cNvPr id="17" name="Text 12"/>
          <p:cNvSpPr txBox="1"/>
          <p:nvPr/>
        </p:nvSpPr>
        <p:spPr>
          <a:xfrm>
            <a:off x="1508760" y="3474720"/>
            <a:ext cx="2834640" cy="777240"/>
          </a:xfrm>
          <a:prstGeom prst="rect">
            <a:avLst/>
          </a:prstGeom>
          <a:noFill/>
          <a:ln/>
        </p:spPr>
        <p:txBody>
          <a:bodyPr wrap="square" lIns="0" tIns="0" rIns="0" bIns="0" rtlCol="0" anchor="t"/>
          <a:lstStyle/>
          <a:p>
            <a:pPr indent="0" marL="0">
              <a:buNone/>
            </a:pPr>
            <a:r>
              <a:rPr lang="en-US" sz="1400" dirty="0">
                <a:solidFill>
                  <a:schemeClr val="bg1"/>
                </a:solidFill>
              </a:rPr>
              <a:t>Timed practice sets across all five strands for Grades 3 and 6.</a:t>
            </a:r>
            <a:endParaRPr lang="en-US" sz="1400" dirty="0"/>
          </a:p>
        </p:txBody>
      </p:sp>
      <p:sp>
        <p:nvSpPr>
          <p:cNvPr id="18" name="English and French card"/>
          <p:cNvSpPr/>
          <p:nvPr/>
        </p:nvSpPr>
        <p:spPr>
          <a:xfrm>
            <a:off x="4663440" y="2926080"/>
            <a:ext cx="4023360" cy="1463040"/>
          </a:xfrm>
          <a:prstGeom prst="roundRect">
            <a:avLst>
              <a:gd name="adj" fmla="val 6250"/>
            </a:avLst>
          </a:prstGeom>
          <a:solidFill>
            <a:schemeClr val="accent4"/>
          </a:solidFill>
          <a:ln w="12700">
            <a:solidFill>
              <a:srgbClr val="1F4B38"/>
            </a:solidFill>
            <a:prstDash val="solid"/>
          </a:ln>
        </p:spPr>
      </p:sp>
      <p:sp>
        <p:nvSpPr>
          <p:cNvPr id="19" name="English and French circle"/>
          <p:cNvSpPr/>
          <p:nvPr/>
        </p:nvSpPr>
        <p:spPr>
          <a:xfrm>
            <a:off x="4892040" y="3200400"/>
            <a:ext cx="640080" cy="640080"/>
          </a:xfrm>
          <a:prstGeom prst="ellipse">
            <a:avLst/>
          </a:prstGeom>
          <a:solidFill>
            <a:schemeClr val="accent2"/>
          </a:solidFill>
          <a:ln w="12700">
            <a:solidFill>
              <a:schemeClr val="accent2"/>
            </a:solidFill>
            <a:prstDash val="solid"/>
          </a:ln>
        </p:spPr>
      </p:sp>
      <p:pic>
        <p:nvPicPr>
          <p:cNvPr id="20" name="Image 3" descr="English and French">    </p:cNvPr>
          <p:cNvPicPr>
            <a:picLocks noChangeAspect="1"/>
          </p:cNvPicPr>
          <p:nvPr/>
        </p:nvPicPr>
        <p:blipFill>
          <a:blip r:embed="rId4"/>
          <a:stretch>
            <a:fillRect/>
          </a:stretch>
        </p:blipFill>
        <p:spPr>
          <a:xfrm>
            <a:off x="5052060" y="3360420"/>
            <a:ext cx="320040" cy="320040"/>
          </a:xfrm>
          <a:prstGeom prst="rect">
            <a:avLst/>
          </a:prstGeom>
        </p:spPr>
      </p:pic>
      <p:sp>
        <p:nvSpPr>
          <p:cNvPr id="21" name="Text 15"/>
          <p:cNvSpPr txBox="1"/>
          <p:nvPr/>
        </p:nvSpPr>
        <p:spPr>
          <a:xfrm>
            <a:off x="5715000" y="3108960"/>
            <a:ext cx="2834640" cy="320040"/>
          </a:xfrm>
          <a:prstGeom prst="rect">
            <a:avLst/>
          </a:prstGeom>
          <a:noFill/>
          <a:ln/>
        </p:spPr>
        <p:txBody>
          <a:bodyPr wrap="square" lIns="0" tIns="0" rIns="0" bIns="0" rtlCol="0" anchor="ctr"/>
          <a:lstStyle/>
          <a:p>
            <a:pPr indent="0" marL="0">
              <a:buNone/>
            </a:pPr>
            <a:r>
              <a:rPr lang="en-US" sz="1800" b="1" dirty="0">
                <a:solidFill>
                  <a:schemeClr val="accent2"/>
                </a:solidFill>
              </a:rPr>
              <a:t>English and French</a:t>
            </a:r>
            <a:endParaRPr lang="en-US" sz="1800" dirty="0"/>
          </a:p>
        </p:txBody>
      </p:sp>
      <p:sp>
        <p:nvSpPr>
          <p:cNvPr id="22" name="Text 16"/>
          <p:cNvSpPr txBox="1"/>
          <p:nvPr/>
        </p:nvSpPr>
        <p:spPr>
          <a:xfrm>
            <a:off x="5715000" y="3474720"/>
            <a:ext cx="2834640" cy="777240"/>
          </a:xfrm>
          <a:prstGeom prst="rect">
            <a:avLst/>
          </a:prstGeom>
          <a:noFill/>
          <a:ln/>
        </p:spPr>
        <p:txBody>
          <a:bodyPr wrap="square" lIns="0" tIns="0" rIns="0" bIns="0" rtlCol="0" anchor="t"/>
          <a:lstStyle/>
          <a:p>
            <a:pPr indent="0" marL="0">
              <a:buNone/>
            </a:pPr>
            <a:r>
              <a:rPr lang="en-US" sz="1400" dirty="0">
                <a:solidFill>
                  <a:schemeClr val="bg1"/>
                </a:solidFill>
              </a:rPr>
              <a:t>The K–8 site is available in both languages throughout.</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7D4C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For students: Grades 9 to 12</a:t>
            </a:r>
            <a:endParaRPr lang="en-US" sz="3000" dirty="0"/>
          </a:p>
        </p:txBody>
      </p:sp>
      <p:sp>
        <p:nvSpPr>
          <p:cNvPr id="3" name="course list card"/>
          <p:cNvSpPr/>
          <p:nvPr/>
        </p:nvSpPr>
        <p:spPr>
          <a:xfrm>
            <a:off x="457200" y="1234440"/>
            <a:ext cx="4023360" cy="3200400"/>
          </a:xfrm>
          <a:prstGeom prst="roundRect">
            <a:avLst>
              <a:gd name="adj" fmla="val 2857"/>
            </a:avLst>
          </a:prstGeom>
          <a:solidFill>
            <a:schemeClr val="bg1"/>
          </a:solidFill>
          <a:ln w="12700">
            <a:solidFill>
              <a:srgbClr val="D3DBCD"/>
            </a:solidFill>
            <a:prstDash val="solid"/>
          </a:ln>
        </p:spPr>
      </p:sp>
      <p:sp>
        <p:nvSpPr>
          <p:cNvPr id="4" name="Text 2"/>
          <p:cNvSpPr txBox="1"/>
          <p:nvPr/>
        </p:nvSpPr>
        <p:spPr>
          <a:xfrm>
            <a:off x="685800" y="1371600"/>
            <a:ext cx="3566160" cy="320040"/>
          </a:xfrm>
          <a:prstGeom prst="rect">
            <a:avLst/>
          </a:prstGeom>
          <a:noFill/>
          <a:ln/>
        </p:spPr>
        <p:txBody>
          <a:bodyPr wrap="square" lIns="0" tIns="0" rIns="0" bIns="0" rtlCol="0" anchor="ctr"/>
          <a:lstStyle/>
          <a:p>
            <a:pPr indent="0" marL="0">
              <a:buNone/>
            </a:pPr>
            <a:r>
              <a:rPr lang="en-US" sz="1600" b="1" dirty="0">
                <a:solidFill>
                  <a:schemeClr val="accent1"/>
                </a:solidFill>
              </a:rPr>
              <a:t>integrationacademy.ca courses</a:t>
            </a:r>
            <a:endParaRPr lang="en-US" sz="1600" dirty="0"/>
          </a:p>
        </p:txBody>
      </p:sp>
      <p:sp>
        <p:nvSpPr>
          <p:cNvPr id="5" name="Text 3"/>
          <p:cNvSpPr txBox="1"/>
          <p:nvPr/>
        </p:nvSpPr>
        <p:spPr>
          <a:xfrm>
            <a:off x="685800" y="1783080"/>
            <a:ext cx="3611880" cy="2560320"/>
          </a:xfrm>
          <a:prstGeom prst="rect">
            <a:avLst/>
          </a:prstGeom>
          <a:noFill/>
          <a:ln/>
        </p:spPr>
        <p:txBody>
          <a:bodyPr wrap="square" lIns="0" tIns="0" rIns="0" bIns="0" rtlCol="0" anchor="t"/>
          <a:lstStyle/>
          <a:p>
            <a:pPr indent="0" marL="0">
              <a:spcAft>
                <a:spcPts val="600"/>
              </a:spcAft>
              <a:buNone/>
            </a:pPr>
            <a:r>
              <a:rPr lang="en-US" sz="1400" b="1" dirty="0">
                <a:solidFill>
                  <a:schemeClr val="tx1"/>
                </a:solidFill>
              </a:rPr>
              <a:t>Grade 9:  </a:t>
            </a:r>
            <a:pPr indent="0" marL="0">
              <a:spcAft>
                <a:spcPts val="600"/>
              </a:spcAft>
              <a:buNone/>
            </a:pPr>
            <a:r>
              <a:rPr lang="en-US" sz="1400" dirty="0">
                <a:solidFill>
                  <a:schemeClr val="tx1"/>
                </a:solidFill>
              </a:rPr>
              <a:t>MTH1W</a:t>
            </a:r>
            <a:endParaRPr lang="en-US" sz="1400" dirty="0"/>
          </a:p>
          <a:p>
            <a:pPr indent="0" marL="0">
              <a:spcAft>
                <a:spcPts val="600"/>
              </a:spcAft>
              <a:buNone/>
            </a:pPr>
            <a:r>
              <a:rPr lang="en-US" sz="1400" b="1" dirty="0">
                <a:solidFill>
                  <a:schemeClr val="tx1"/>
                </a:solidFill>
              </a:rPr>
              <a:t>Grade 10:  </a:t>
            </a:r>
            <a:pPr indent="0" marL="0">
              <a:spcAft>
                <a:spcPts val="600"/>
              </a:spcAft>
              <a:buNone/>
            </a:pPr>
            <a:r>
              <a:rPr lang="en-US" sz="1400" dirty="0">
                <a:solidFill>
                  <a:schemeClr val="tx1"/>
                </a:solidFill>
              </a:rPr>
              <a:t>MPM2D, MFM2P</a:t>
            </a:r>
            <a:endParaRPr lang="en-US" sz="1400" dirty="0"/>
          </a:p>
          <a:p>
            <a:pPr indent="0" marL="0">
              <a:spcAft>
                <a:spcPts val="600"/>
              </a:spcAft>
              <a:buNone/>
            </a:pPr>
            <a:r>
              <a:rPr lang="en-US" sz="1400" b="1" dirty="0">
                <a:solidFill>
                  <a:schemeClr val="tx1"/>
                </a:solidFill>
              </a:rPr>
              <a:t>Grade 11:  </a:t>
            </a:r>
            <a:pPr indent="0" marL="0">
              <a:spcAft>
                <a:spcPts val="600"/>
              </a:spcAft>
              <a:buNone/>
            </a:pPr>
            <a:r>
              <a:rPr lang="en-US" sz="1400" dirty="0">
                <a:solidFill>
                  <a:schemeClr val="tx1"/>
                </a:solidFill>
              </a:rPr>
              <a:t>MCR3U, MCF3M, MBF3C</a:t>
            </a:r>
            <a:endParaRPr lang="en-US" sz="1400" dirty="0"/>
          </a:p>
          <a:p>
            <a:pPr indent="0" marL="0">
              <a:spcAft>
                <a:spcPts val="600"/>
              </a:spcAft>
              <a:buNone/>
            </a:pPr>
            <a:r>
              <a:rPr lang="en-US" sz="1400" b="1" dirty="0">
                <a:solidFill>
                  <a:schemeClr val="tx1"/>
                </a:solidFill>
              </a:rPr>
              <a:t>Grade 12:  </a:t>
            </a:r>
            <a:pPr indent="0" marL="0">
              <a:spcAft>
                <a:spcPts val="600"/>
              </a:spcAft>
              <a:buNone/>
            </a:pPr>
            <a:r>
              <a:rPr lang="en-US" sz="1400" dirty="0">
                <a:solidFill>
                  <a:schemeClr val="tx1"/>
                </a:solidFill>
              </a:rPr>
              <a:t>MHF4U, MCV4U, MDM4U, MAP4C, MCT4C</a:t>
            </a:r>
            <a:endParaRPr lang="en-US" sz="1400" dirty="0"/>
          </a:p>
          <a:p>
            <a:pPr indent="0" marL="0">
              <a:spcAft>
                <a:spcPts val="600"/>
              </a:spcAft>
              <a:buNone/>
            </a:pPr>
            <a:r>
              <a:rPr lang="en-US" sz="1400" b="1" dirty="0">
                <a:solidFill>
                  <a:schemeClr val="tx1"/>
                </a:solidFill>
              </a:rPr>
              <a:t>Also:  </a:t>
            </a:r>
            <a:pPr indent="0" marL="0">
              <a:spcAft>
                <a:spcPts val="600"/>
              </a:spcAft>
              <a:buNone/>
            </a:pPr>
            <a:r>
              <a:rPr lang="en-US" sz="1400" dirty="0">
                <a:solidFill>
                  <a:schemeClr val="tx1"/>
                </a:solidFill>
              </a:rPr>
              <a:t>AP Calculus AB, IB Analysis and Approaches SL, Florida B.E.S.T. courses, FTCE preparation</a:t>
            </a:r>
            <a:endParaRPr lang="en-US" sz="1400" dirty="0"/>
          </a:p>
        </p:txBody>
      </p:sp>
      <p:sp>
        <p:nvSpPr>
          <p:cNvPr id="6" name="Interactive lessons card"/>
          <p:cNvSpPr/>
          <p:nvPr/>
        </p:nvSpPr>
        <p:spPr>
          <a:xfrm>
            <a:off x="4663440" y="1234440"/>
            <a:ext cx="4023360" cy="731520"/>
          </a:xfrm>
          <a:prstGeom prst="roundRect">
            <a:avLst>
              <a:gd name="adj" fmla="val 12500"/>
            </a:avLst>
          </a:prstGeom>
          <a:solidFill>
            <a:schemeClr val="bg1"/>
          </a:solidFill>
          <a:ln w="12700">
            <a:solidFill>
              <a:srgbClr val="D3DBCD"/>
            </a:solidFill>
            <a:prstDash val="solid"/>
          </a:ln>
        </p:spPr>
      </p:sp>
      <p:sp>
        <p:nvSpPr>
          <p:cNvPr id="7" name="Interactive lessons circle"/>
          <p:cNvSpPr/>
          <p:nvPr/>
        </p:nvSpPr>
        <p:spPr>
          <a:xfrm>
            <a:off x="4800600" y="1344168"/>
            <a:ext cx="512064" cy="512064"/>
          </a:xfrm>
          <a:prstGeom prst="ellipse">
            <a:avLst/>
          </a:prstGeom>
          <a:solidFill>
            <a:schemeClr val="accent1"/>
          </a:solidFill>
          <a:ln w="12700">
            <a:solidFill>
              <a:schemeClr val="accent1"/>
            </a:solidFill>
            <a:prstDash val="solid"/>
          </a:ln>
        </p:spPr>
      </p:sp>
      <p:pic>
        <p:nvPicPr>
          <p:cNvPr id="8" name="Image 0" descr="Interactive lessons">    </p:cNvPr>
          <p:cNvPicPr>
            <a:picLocks noChangeAspect="1"/>
          </p:cNvPicPr>
          <p:nvPr/>
        </p:nvPicPr>
        <p:blipFill>
          <a:blip r:embed="rId1"/>
          <a:stretch>
            <a:fillRect/>
          </a:stretch>
        </p:blipFill>
        <p:spPr>
          <a:xfrm>
            <a:off x="4928616" y="1472184"/>
            <a:ext cx="256032" cy="256032"/>
          </a:xfrm>
          <a:prstGeom prst="rect">
            <a:avLst/>
          </a:prstGeom>
        </p:spPr>
      </p:pic>
      <p:sp>
        <p:nvSpPr>
          <p:cNvPr id="9" name="Text 6"/>
          <p:cNvSpPr txBox="1"/>
          <p:nvPr/>
        </p:nvSpPr>
        <p:spPr>
          <a:xfrm>
            <a:off x="5440680" y="1307592"/>
            <a:ext cx="3108960" cy="274320"/>
          </a:xfrm>
          <a:prstGeom prst="rect">
            <a:avLst/>
          </a:prstGeom>
          <a:noFill/>
          <a:ln/>
        </p:spPr>
        <p:txBody>
          <a:bodyPr wrap="square" lIns="0" tIns="0" rIns="0" bIns="0" rtlCol="0" anchor="ctr"/>
          <a:lstStyle/>
          <a:p>
            <a:pPr indent="0" marL="0">
              <a:buNone/>
            </a:pPr>
            <a:r>
              <a:rPr lang="en-US" sz="1500" b="1" dirty="0">
                <a:solidFill>
                  <a:schemeClr val="tx1"/>
                </a:solidFill>
              </a:rPr>
              <a:t>Interactive lessons</a:t>
            </a:r>
            <a:endParaRPr lang="en-US" sz="1500" dirty="0"/>
          </a:p>
        </p:txBody>
      </p:sp>
      <p:sp>
        <p:nvSpPr>
          <p:cNvPr id="10" name="Text 7"/>
          <p:cNvSpPr txBox="1"/>
          <p:nvPr/>
        </p:nvSpPr>
        <p:spPr>
          <a:xfrm>
            <a:off x="5440680" y="1600200"/>
            <a:ext cx="3108960" cy="320040"/>
          </a:xfrm>
          <a:prstGeom prst="rect">
            <a:avLst/>
          </a:prstGeom>
          <a:noFill/>
          <a:ln/>
        </p:spPr>
        <p:txBody>
          <a:bodyPr wrap="square" lIns="0" tIns="0" rIns="0" bIns="0" rtlCol="0" anchor="t"/>
          <a:lstStyle/>
          <a:p>
            <a:pPr indent="0" marL="0">
              <a:buNone/>
            </a:pPr>
            <a:r>
              <a:rPr lang="en-US" sz="1200" dirty="0">
                <a:solidFill>
                  <a:schemeClr val="accent5"/>
                </a:solidFill>
              </a:rPr>
              <a:t>Worked examples with live graphs.</a:t>
            </a:r>
            <a:endParaRPr lang="en-US" sz="1200" dirty="0"/>
          </a:p>
        </p:txBody>
      </p:sp>
      <p:sp>
        <p:nvSpPr>
          <p:cNvPr id="11" name="A question bank card"/>
          <p:cNvSpPr/>
          <p:nvPr/>
        </p:nvSpPr>
        <p:spPr>
          <a:xfrm>
            <a:off x="4663440" y="2057400"/>
            <a:ext cx="4023360" cy="731520"/>
          </a:xfrm>
          <a:prstGeom prst="roundRect">
            <a:avLst>
              <a:gd name="adj" fmla="val 12500"/>
            </a:avLst>
          </a:prstGeom>
          <a:solidFill>
            <a:schemeClr val="bg1"/>
          </a:solidFill>
          <a:ln w="12700">
            <a:solidFill>
              <a:srgbClr val="D3DBCD"/>
            </a:solidFill>
            <a:prstDash val="solid"/>
          </a:ln>
        </p:spPr>
      </p:sp>
      <p:sp>
        <p:nvSpPr>
          <p:cNvPr id="12" name="A question bank circle"/>
          <p:cNvSpPr/>
          <p:nvPr/>
        </p:nvSpPr>
        <p:spPr>
          <a:xfrm>
            <a:off x="4800600" y="2167128"/>
            <a:ext cx="512064" cy="512064"/>
          </a:xfrm>
          <a:prstGeom prst="ellipse">
            <a:avLst/>
          </a:prstGeom>
          <a:solidFill>
            <a:schemeClr val="accent1"/>
          </a:solidFill>
          <a:ln w="12700">
            <a:solidFill>
              <a:schemeClr val="accent1"/>
            </a:solidFill>
            <a:prstDash val="solid"/>
          </a:ln>
        </p:spPr>
      </p:sp>
      <p:pic>
        <p:nvPicPr>
          <p:cNvPr id="13" name="Image 1" descr="A question bank">    </p:cNvPr>
          <p:cNvPicPr>
            <a:picLocks noChangeAspect="1"/>
          </p:cNvPicPr>
          <p:nvPr/>
        </p:nvPicPr>
        <p:blipFill>
          <a:blip r:embed="rId2"/>
          <a:stretch>
            <a:fillRect/>
          </a:stretch>
        </p:blipFill>
        <p:spPr>
          <a:xfrm>
            <a:off x="4928616" y="2295144"/>
            <a:ext cx="256032" cy="256032"/>
          </a:xfrm>
          <a:prstGeom prst="rect">
            <a:avLst/>
          </a:prstGeom>
        </p:spPr>
      </p:pic>
      <p:sp>
        <p:nvSpPr>
          <p:cNvPr id="14" name="Text 10"/>
          <p:cNvSpPr txBox="1"/>
          <p:nvPr/>
        </p:nvSpPr>
        <p:spPr>
          <a:xfrm>
            <a:off x="5440680" y="2130552"/>
            <a:ext cx="3108960" cy="274320"/>
          </a:xfrm>
          <a:prstGeom prst="rect">
            <a:avLst/>
          </a:prstGeom>
          <a:noFill/>
          <a:ln/>
        </p:spPr>
        <p:txBody>
          <a:bodyPr wrap="square" lIns="0" tIns="0" rIns="0" bIns="0" rtlCol="0" anchor="ctr"/>
          <a:lstStyle/>
          <a:p>
            <a:pPr indent="0" marL="0">
              <a:buNone/>
            </a:pPr>
            <a:r>
              <a:rPr lang="en-US" sz="1500" b="1" dirty="0">
                <a:solidFill>
                  <a:schemeClr val="tx1"/>
                </a:solidFill>
              </a:rPr>
              <a:t>A question bank</a:t>
            </a:r>
            <a:endParaRPr lang="en-US" sz="1500" dirty="0"/>
          </a:p>
        </p:txBody>
      </p:sp>
      <p:sp>
        <p:nvSpPr>
          <p:cNvPr id="15" name="Text 11"/>
          <p:cNvSpPr txBox="1"/>
          <p:nvPr/>
        </p:nvSpPr>
        <p:spPr>
          <a:xfrm>
            <a:off x="5440680" y="2423160"/>
            <a:ext cx="3108960" cy="320040"/>
          </a:xfrm>
          <a:prstGeom prst="rect">
            <a:avLst/>
          </a:prstGeom>
          <a:noFill/>
          <a:ln/>
        </p:spPr>
        <p:txBody>
          <a:bodyPr wrap="square" lIns="0" tIns="0" rIns="0" bIns="0" rtlCol="0" anchor="t"/>
          <a:lstStyle/>
          <a:p>
            <a:pPr indent="0" marL="0">
              <a:buNone/>
            </a:pPr>
            <a:r>
              <a:rPr lang="en-US" sz="1200" dirty="0">
                <a:solidFill>
                  <a:schemeClr val="accent5"/>
                </a:solidFill>
              </a:rPr>
              <a:t>Auto-graded, in three difficulty tiers.</a:t>
            </a:r>
            <a:endParaRPr lang="en-US" sz="1200" dirty="0"/>
          </a:p>
        </p:txBody>
      </p:sp>
      <p:sp>
        <p:nvSpPr>
          <p:cNvPr id="16" name="Worksheets card"/>
          <p:cNvSpPr/>
          <p:nvPr/>
        </p:nvSpPr>
        <p:spPr>
          <a:xfrm>
            <a:off x="4663440" y="2880360"/>
            <a:ext cx="4023360" cy="731520"/>
          </a:xfrm>
          <a:prstGeom prst="roundRect">
            <a:avLst>
              <a:gd name="adj" fmla="val 12500"/>
            </a:avLst>
          </a:prstGeom>
          <a:solidFill>
            <a:schemeClr val="bg1"/>
          </a:solidFill>
          <a:ln w="12700">
            <a:solidFill>
              <a:srgbClr val="D3DBCD"/>
            </a:solidFill>
            <a:prstDash val="solid"/>
          </a:ln>
        </p:spPr>
      </p:sp>
      <p:sp>
        <p:nvSpPr>
          <p:cNvPr id="17" name="Worksheets circle"/>
          <p:cNvSpPr/>
          <p:nvPr/>
        </p:nvSpPr>
        <p:spPr>
          <a:xfrm>
            <a:off x="4800600" y="2990088"/>
            <a:ext cx="512064" cy="512064"/>
          </a:xfrm>
          <a:prstGeom prst="ellipse">
            <a:avLst/>
          </a:prstGeom>
          <a:solidFill>
            <a:schemeClr val="accent1"/>
          </a:solidFill>
          <a:ln w="12700">
            <a:solidFill>
              <a:schemeClr val="accent1"/>
            </a:solidFill>
            <a:prstDash val="solid"/>
          </a:ln>
        </p:spPr>
      </p:sp>
      <p:pic>
        <p:nvPicPr>
          <p:cNvPr id="18" name="Image 2" descr="Worksheets">    </p:cNvPr>
          <p:cNvPicPr>
            <a:picLocks noChangeAspect="1"/>
          </p:cNvPicPr>
          <p:nvPr/>
        </p:nvPicPr>
        <p:blipFill>
          <a:blip r:embed="rId3"/>
          <a:stretch>
            <a:fillRect/>
          </a:stretch>
        </p:blipFill>
        <p:spPr>
          <a:xfrm>
            <a:off x="4928616" y="3118104"/>
            <a:ext cx="256032" cy="256032"/>
          </a:xfrm>
          <a:prstGeom prst="rect">
            <a:avLst/>
          </a:prstGeom>
        </p:spPr>
      </p:pic>
      <p:sp>
        <p:nvSpPr>
          <p:cNvPr id="19" name="Text 14"/>
          <p:cNvSpPr txBox="1"/>
          <p:nvPr/>
        </p:nvSpPr>
        <p:spPr>
          <a:xfrm>
            <a:off x="5440680" y="2953512"/>
            <a:ext cx="3108960" cy="274320"/>
          </a:xfrm>
          <a:prstGeom prst="rect">
            <a:avLst/>
          </a:prstGeom>
          <a:noFill/>
          <a:ln/>
        </p:spPr>
        <p:txBody>
          <a:bodyPr wrap="square" lIns="0" tIns="0" rIns="0" bIns="0" rtlCol="0" anchor="ctr"/>
          <a:lstStyle/>
          <a:p>
            <a:pPr indent="0" marL="0">
              <a:buNone/>
            </a:pPr>
            <a:r>
              <a:rPr lang="en-US" sz="1500" b="1" dirty="0">
                <a:solidFill>
                  <a:schemeClr val="tx1"/>
                </a:solidFill>
              </a:rPr>
              <a:t>Worksheets</a:t>
            </a:r>
            <a:endParaRPr lang="en-US" sz="1500" dirty="0"/>
          </a:p>
        </p:txBody>
      </p:sp>
      <p:sp>
        <p:nvSpPr>
          <p:cNvPr id="20" name="Text 15"/>
          <p:cNvSpPr txBox="1"/>
          <p:nvPr/>
        </p:nvSpPr>
        <p:spPr>
          <a:xfrm>
            <a:off x="5440680" y="3246120"/>
            <a:ext cx="3108960" cy="320040"/>
          </a:xfrm>
          <a:prstGeom prst="rect">
            <a:avLst/>
          </a:prstGeom>
          <a:noFill/>
          <a:ln/>
        </p:spPr>
        <p:txBody>
          <a:bodyPr wrap="square" lIns="0" tIns="0" rIns="0" bIns="0" rtlCol="0" anchor="t"/>
          <a:lstStyle/>
          <a:p>
            <a:pPr indent="0" marL="0">
              <a:buNone/>
            </a:pPr>
            <a:r>
              <a:rPr lang="en-US" sz="1200" dirty="0">
                <a:solidFill>
                  <a:schemeClr val="accent5"/>
                </a:solidFill>
              </a:rPr>
              <a:t>Printable, with full solutions.</a:t>
            </a:r>
            <a:endParaRPr lang="en-US" sz="1200" dirty="0"/>
          </a:p>
        </p:txBody>
      </p:sp>
      <p:sp>
        <p:nvSpPr>
          <p:cNvPr id="21" name="Games for the basics card"/>
          <p:cNvSpPr/>
          <p:nvPr/>
        </p:nvSpPr>
        <p:spPr>
          <a:xfrm>
            <a:off x="4663440" y="3703320"/>
            <a:ext cx="4023360" cy="731520"/>
          </a:xfrm>
          <a:prstGeom prst="roundRect">
            <a:avLst>
              <a:gd name="adj" fmla="val 12500"/>
            </a:avLst>
          </a:prstGeom>
          <a:solidFill>
            <a:schemeClr val="bg1"/>
          </a:solidFill>
          <a:ln w="12700">
            <a:solidFill>
              <a:srgbClr val="D3DBCD"/>
            </a:solidFill>
            <a:prstDash val="solid"/>
          </a:ln>
        </p:spPr>
      </p:sp>
      <p:sp>
        <p:nvSpPr>
          <p:cNvPr id="22" name="Games for the basics circle"/>
          <p:cNvSpPr/>
          <p:nvPr/>
        </p:nvSpPr>
        <p:spPr>
          <a:xfrm>
            <a:off x="4800600" y="3813048"/>
            <a:ext cx="512064" cy="512064"/>
          </a:xfrm>
          <a:prstGeom prst="ellipse">
            <a:avLst/>
          </a:prstGeom>
          <a:solidFill>
            <a:schemeClr val="accent1"/>
          </a:solidFill>
          <a:ln w="12700">
            <a:solidFill>
              <a:schemeClr val="accent1"/>
            </a:solidFill>
            <a:prstDash val="solid"/>
          </a:ln>
        </p:spPr>
      </p:sp>
      <p:pic>
        <p:nvPicPr>
          <p:cNvPr id="23" name="Image 3" descr="Games for the basics">    </p:cNvPr>
          <p:cNvPicPr>
            <a:picLocks noChangeAspect="1"/>
          </p:cNvPicPr>
          <p:nvPr/>
        </p:nvPicPr>
        <p:blipFill>
          <a:blip r:embed="rId4"/>
          <a:stretch>
            <a:fillRect/>
          </a:stretch>
        </p:blipFill>
        <p:spPr>
          <a:xfrm>
            <a:off x="4928616" y="3941064"/>
            <a:ext cx="256032" cy="256032"/>
          </a:xfrm>
          <a:prstGeom prst="rect">
            <a:avLst/>
          </a:prstGeom>
        </p:spPr>
      </p:pic>
      <p:sp>
        <p:nvSpPr>
          <p:cNvPr id="24" name="Text 18"/>
          <p:cNvSpPr txBox="1"/>
          <p:nvPr/>
        </p:nvSpPr>
        <p:spPr>
          <a:xfrm>
            <a:off x="5440680" y="3776472"/>
            <a:ext cx="3108960" cy="274320"/>
          </a:xfrm>
          <a:prstGeom prst="rect">
            <a:avLst/>
          </a:prstGeom>
          <a:noFill/>
          <a:ln/>
        </p:spPr>
        <p:txBody>
          <a:bodyPr wrap="square" lIns="0" tIns="0" rIns="0" bIns="0" rtlCol="0" anchor="ctr"/>
          <a:lstStyle/>
          <a:p>
            <a:pPr indent="0" marL="0">
              <a:buNone/>
            </a:pPr>
            <a:r>
              <a:rPr lang="en-US" sz="1500" b="1" dirty="0">
                <a:solidFill>
                  <a:schemeClr val="tx1"/>
                </a:solidFill>
              </a:rPr>
              <a:t>Games for the basics</a:t>
            </a:r>
            <a:endParaRPr lang="en-US" sz="1500" dirty="0"/>
          </a:p>
        </p:txBody>
      </p:sp>
      <p:sp>
        <p:nvSpPr>
          <p:cNvPr id="25" name="Text 19"/>
          <p:cNvSpPr txBox="1"/>
          <p:nvPr/>
        </p:nvSpPr>
        <p:spPr>
          <a:xfrm>
            <a:off x="5440680" y="4069080"/>
            <a:ext cx="3108960" cy="320040"/>
          </a:xfrm>
          <a:prstGeom prst="rect">
            <a:avLst/>
          </a:prstGeom>
          <a:noFill/>
          <a:ln/>
        </p:spPr>
        <p:txBody>
          <a:bodyPr wrap="square" lIns="0" tIns="0" rIns="0" bIns="0" rtlCol="0" anchor="t"/>
          <a:lstStyle/>
          <a:p>
            <a:pPr indent="0" marL="0">
              <a:buNone/>
            </a:pPr>
            <a:r>
              <a:rPr lang="en-US" sz="1200" dirty="0">
                <a:solidFill>
                  <a:schemeClr val="accent5"/>
                </a:solidFill>
              </a:rPr>
              <a:t>Short practice games and a Skill Check.</a:t>
            </a:r>
            <a:endParaRPr lang="en-US" sz="12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For teachers: ready to teach (K–8)</a:t>
            </a:r>
            <a:endParaRPr lang="en-US" sz="3000" dirty="0"/>
          </a:p>
        </p:txBody>
      </p:sp>
      <p:sp>
        <p:nvSpPr>
          <p:cNvPr id="3" name="Present the slides card"/>
          <p:cNvSpPr/>
          <p:nvPr/>
        </p:nvSpPr>
        <p:spPr>
          <a:xfrm>
            <a:off x="457200" y="1234440"/>
            <a:ext cx="2651760" cy="1554480"/>
          </a:xfrm>
          <a:prstGeom prst="roundRect">
            <a:avLst>
              <a:gd name="adj" fmla="val 5882"/>
            </a:avLst>
          </a:prstGeom>
          <a:solidFill>
            <a:schemeClr val="bg1"/>
          </a:solidFill>
          <a:ln w="12700">
            <a:solidFill>
              <a:srgbClr val="D3DBCD"/>
            </a:solidFill>
            <a:prstDash val="solid"/>
          </a:ln>
        </p:spPr>
      </p:sp>
      <p:sp>
        <p:nvSpPr>
          <p:cNvPr id="4" name="Present the slides circle"/>
          <p:cNvSpPr/>
          <p:nvPr/>
        </p:nvSpPr>
        <p:spPr>
          <a:xfrm>
            <a:off x="685800" y="1417320"/>
            <a:ext cx="548640" cy="548640"/>
          </a:xfrm>
          <a:prstGeom prst="ellipse">
            <a:avLst/>
          </a:prstGeom>
          <a:solidFill>
            <a:schemeClr val="accent1"/>
          </a:solidFill>
          <a:ln w="12700">
            <a:solidFill>
              <a:schemeClr val="accent1"/>
            </a:solidFill>
            <a:prstDash val="solid"/>
          </a:ln>
        </p:spPr>
      </p:sp>
      <p:pic>
        <p:nvPicPr>
          <p:cNvPr id="5" name="Image 0" descr="Present the slides">    </p:cNvPr>
          <p:cNvPicPr>
            <a:picLocks noChangeAspect="1"/>
          </p:cNvPicPr>
          <p:nvPr/>
        </p:nvPicPr>
        <p:blipFill>
          <a:blip r:embed="rId1"/>
          <a:stretch>
            <a:fillRect/>
          </a:stretch>
        </p:blipFill>
        <p:spPr>
          <a:xfrm>
            <a:off x="822960" y="1554480"/>
            <a:ext cx="274320" cy="274320"/>
          </a:xfrm>
          <a:prstGeom prst="rect">
            <a:avLst/>
          </a:prstGeom>
        </p:spPr>
      </p:pic>
      <p:sp>
        <p:nvSpPr>
          <p:cNvPr id="6" name="Text 3"/>
          <p:cNvSpPr txBox="1"/>
          <p:nvPr/>
        </p:nvSpPr>
        <p:spPr>
          <a:xfrm>
            <a:off x="685800" y="2057400"/>
            <a:ext cx="2240280" cy="274320"/>
          </a:xfrm>
          <a:prstGeom prst="rect">
            <a:avLst/>
          </a:prstGeom>
          <a:noFill/>
          <a:ln/>
        </p:spPr>
        <p:txBody>
          <a:bodyPr wrap="square" lIns="0" tIns="0" rIns="0" bIns="0" rtlCol="0" anchor="ctr"/>
          <a:lstStyle/>
          <a:p>
            <a:pPr indent="0" marL="0">
              <a:buNone/>
            </a:pPr>
            <a:r>
              <a:rPr lang="en-US" sz="1500" b="1" dirty="0">
                <a:solidFill>
                  <a:schemeClr val="tx1"/>
                </a:solidFill>
              </a:rPr>
              <a:t>Present the slides</a:t>
            </a:r>
            <a:endParaRPr lang="en-US" sz="1500" dirty="0"/>
          </a:p>
        </p:txBody>
      </p:sp>
      <p:sp>
        <p:nvSpPr>
          <p:cNvPr id="7" name="Text 4"/>
          <p:cNvSpPr txBox="1"/>
          <p:nvPr/>
        </p:nvSpPr>
        <p:spPr>
          <a:xfrm>
            <a:off x="685800" y="2331720"/>
            <a:ext cx="2240280" cy="411480"/>
          </a:xfrm>
          <a:prstGeom prst="rect">
            <a:avLst/>
          </a:prstGeom>
          <a:noFill/>
          <a:ln/>
        </p:spPr>
        <p:txBody>
          <a:bodyPr wrap="square" lIns="0" tIns="0" rIns="0" bIns="0" rtlCol="0" anchor="t"/>
          <a:lstStyle/>
          <a:p>
            <a:pPr indent="0" marL="0">
              <a:buNone/>
            </a:pPr>
            <a:r>
              <a:rPr lang="en-US" sz="1200" dirty="0">
                <a:solidFill>
                  <a:schemeClr val="accent5"/>
                </a:solidFill>
              </a:rPr>
              <a:t>Teach in class straight from the site.</a:t>
            </a:r>
            <a:endParaRPr lang="en-US" sz="1200" dirty="0"/>
          </a:p>
        </p:txBody>
      </p:sp>
      <p:sp>
        <p:nvSpPr>
          <p:cNvPr id="8" name="Download card"/>
          <p:cNvSpPr/>
          <p:nvPr/>
        </p:nvSpPr>
        <p:spPr>
          <a:xfrm>
            <a:off x="3246120" y="1234440"/>
            <a:ext cx="2651760" cy="1554480"/>
          </a:xfrm>
          <a:prstGeom prst="roundRect">
            <a:avLst>
              <a:gd name="adj" fmla="val 5882"/>
            </a:avLst>
          </a:prstGeom>
          <a:solidFill>
            <a:schemeClr val="bg1"/>
          </a:solidFill>
          <a:ln w="12700">
            <a:solidFill>
              <a:srgbClr val="D3DBCD"/>
            </a:solidFill>
            <a:prstDash val="solid"/>
          </a:ln>
        </p:spPr>
      </p:sp>
      <p:sp>
        <p:nvSpPr>
          <p:cNvPr id="9" name="Download circle"/>
          <p:cNvSpPr/>
          <p:nvPr/>
        </p:nvSpPr>
        <p:spPr>
          <a:xfrm>
            <a:off x="3474720" y="1417320"/>
            <a:ext cx="548640" cy="548640"/>
          </a:xfrm>
          <a:prstGeom prst="ellipse">
            <a:avLst/>
          </a:prstGeom>
          <a:solidFill>
            <a:schemeClr val="accent1"/>
          </a:solidFill>
          <a:ln w="12700">
            <a:solidFill>
              <a:schemeClr val="accent1"/>
            </a:solidFill>
            <a:prstDash val="solid"/>
          </a:ln>
        </p:spPr>
      </p:sp>
      <p:pic>
        <p:nvPicPr>
          <p:cNvPr id="10" name="Image 1" descr="Download">    </p:cNvPr>
          <p:cNvPicPr>
            <a:picLocks noChangeAspect="1"/>
          </p:cNvPicPr>
          <p:nvPr/>
        </p:nvPicPr>
        <p:blipFill>
          <a:blip r:embed="rId2"/>
          <a:stretch>
            <a:fillRect/>
          </a:stretch>
        </p:blipFill>
        <p:spPr>
          <a:xfrm>
            <a:off x="3611880" y="1554480"/>
            <a:ext cx="274320" cy="274320"/>
          </a:xfrm>
          <a:prstGeom prst="rect">
            <a:avLst/>
          </a:prstGeom>
        </p:spPr>
      </p:pic>
      <p:sp>
        <p:nvSpPr>
          <p:cNvPr id="11" name="Text 7"/>
          <p:cNvSpPr txBox="1"/>
          <p:nvPr/>
        </p:nvSpPr>
        <p:spPr>
          <a:xfrm>
            <a:off x="3474720" y="2057400"/>
            <a:ext cx="2240280" cy="274320"/>
          </a:xfrm>
          <a:prstGeom prst="rect">
            <a:avLst/>
          </a:prstGeom>
          <a:noFill/>
          <a:ln/>
        </p:spPr>
        <p:txBody>
          <a:bodyPr wrap="square" lIns="0" tIns="0" rIns="0" bIns="0" rtlCol="0" anchor="ctr"/>
          <a:lstStyle/>
          <a:p>
            <a:pPr indent="0" marL="0">
              <a:buNone/>
            </a:pPr>
            <a:r>
              <a:rPr lang="en-US" sz="1500" b="1" dirty="0">
                <a:solidFill>
                  <a:schemeClr val="tx1"/>
                </a:solidFill>
              </a:rPr>
              <a:t>Download</a:t>
            </a:r>
            <a:endParaRPr lang="en-US" sz="1500" dirty="0"/>
          </a:p>
        </p:txBody>
      </p:sp>
      <p:sp>
        <p:nvSpPr>
          <p:cNvPr id="12" name="Text 8"/>
          <p:cNvSpPr txBox="1"/>
          <p:nvPr/>
        </p:nvSpPr>
        <p:spPr>
          <a:xfrm>
            <a:off x="3474720" y="2331720"/>
            <a:ext cx="2240280" cy="411480"/>
          </a:xfrm>
          <a:prstGeom prst="rect">
            <a:avLst/>
          </a:prstGeom>
          <a:noFill/>
          <a:ln/>
        </p:spPr>
        <p:txBody>
          <a:bodyPr wrap="square" lIns="0" tIns="0" rIns="0" bIns="0" rtlCol="0" anchor="t"/>
          <a:lstStyle/>
          <a:p>
            <a:pPr indent="0" marL="0">
              <a:buNone/>
            </a:pPr>
            <a:r>
              <a:rPr lang="en-US" sz="1200" dirty="0">
                <a:solidFill>
                  <a:schemeClr val="accent5"/>
                </a:solidFill>
              </a:rPr>
              <a:t>Slides as PowerPoint or PDF.</a:t>
            </a:r>
            <a:endParaRPr lang="en-US" sz="1200" dirty="0"/>
          </a:p>
        </p:txBody>
      </p:sp>
      <p:sp>
        <p:nvSpPr>
          <p:cNvPr id="13" name="Auto-marking card"/>
          <p:cNvSpPr/>
          <p:nvPr/>
        </p:nvSpPr>
        <p:spPr>
          <a:xfrm>
            <a:off x="6035040" y="1234440"/>
            <a:ext cx="2651760" cy="1554480"/>
          </a:xfrm>
          <a:prstGeom prst="roundRect">
            <a:avLst>
              <a:gd name="adj" fmla="val 5882"/>
            </a:avLst>
          </a:prstGeom>
          <a:solidFill>
            <a:schemeClr val="bg1"/>
          </a:solidFill>
          <a:ln w="12700">
            <a:solidFill>
              <a:srgbClr val="D3DBCD"/>
            </a:solidFill>
            <a:prstDash val="solid"/>
          </a:ln>
        </p:spPr>
      </p:sp>
      <p:sp>
        <p:nvSpPr>
          <p:cNvPr id="14" name="Auto-marking circle"/>
          <p:cNvSpPr/>
          <p:nvPr/>
        </p:nvSpPr>
        <p:spPr>
          <a:xfrm>
            <a:off x="6263640" y="1417320"/>
            <a:ext cx="548640" cy="548640"/>
          </a:xfrm>
          <a:prstGeom prst="ellipse">
            <a:avLst/>
          </a:prstGeom>
          <a:solidFill>
            <a:schemeClr val="accent1"/>
          </a:solidFill>
          <a:ln w="12700">
            <a:solidFill>
              <a:schemeClr val="accent1"/>
            </a:solidFill>
            <a:prstDash val="solid"/>
          </a:ln>
        </p:spPr>
      </p:sp>
      <p:pic>
        <p:nvPicPr>
          <p:cNvPr id="15" name="Image 2" descr="Auto-marking">    </p:cNvPr>
          <p:cNvPicPr>
            <a:picLocks noChangeAspect="1"/>
          </p:cNvPicPr>
          <p:nvPr/>
        </p:nvPicPr>
        <p:blipFill>
          <a:blip r:embed="rId3"/>
          <a:stretch>
            <a:fillRect/>
          </a:stretch>
        </p:blipFill>
        <p:spPr>
          <a:xfrm>
            <a:off x="6400800" y="1554480"/>
            <a:ext cx="274320" cy="274320"/>
          </a:xfrm>
          <a:prstGeom prst="rect">
            <a:avLst/>
          </a:prstGeom>
        </p:spPr>
      </p:pic>
      <p:sp>
        <p:nvSpPr>
          <p:cNvPr id="16" name="Text 11"/>
          <p:cNvSpPr txBox="1"/>
          <p:nvPr/>
        </p:nvSpPr>
        <p:spPr>
          <a:xfrm>
            <a:off x="6263640" y="2057400"/>
            <a:ext cx="2240280" cy="274320"/>
          </a:xfrm>
          <a:prstGeom prst="rect">
            <a:avLst/>
          </a:prstGeom>
          <a:noFill/>
          <a:ln/>
        </p:spPr>
        <p:txBody>
          <a:bodyPr wrap="square" lIns="0" tIns="0" rIns="0" bIns="0" rtlCol="0" anchor="ctr"/>
          <a:lstStyle/>
          <a:p>
            <a:pPr indent="0" marL="0">
              <a:buNone/>
            </a:pPr>
            <a:r>
              <a:rPr lang="en-US" sz="1500" b="1" dirty="0">
                <a:solidFill>
                  <a:schemeClr val="tx1"/>
                </a:solidFill>
              </a:rPr>
              <a:t>Auto-marking</a:t>
            </a:r>
            <a:endParaRPr lang="en-US" sz="1500" dirty="0"/>
          </a:p>
        </p:txBody>
      </p:sp>
      <p:sp>
        <p:nvSpPr>
          <p:cNvPr id="17" name="Text 12"/>
          <p:cNvSpPr txBox="1"/>
          <p:nvPr/>
        </p:nvSpPr>
        <p:spPr>
          <a:xfrm>
            <a:off x="6263640" y="2331720"/>
            <a:ext cx="2240280" cy="411480"/>
          </a:xfrm>
          <a:prstGeom prst="rect">
            <a:avLst/>
          </a:prstGeom>
          <a:noFill/>
          <a:ln/>
        </p:spPr>
        <p:txBody>
          <a:bodyPr wrap="square" lIns="0" tIns="0" rIns="0" bIns="0" rtlCol="0" anchor="t"/>
          <a:lstStyle/>
          <a:p>
            <a:pPr indent="0" marL="0">
              <a:buNone/>
            </a:pPr>
            <a:r>
              <a:rPr lang="en-US" sz="1200" dirty="0">
                <a:solidFill>
                  <a:schemeClr val="accent5"/>
                </a:solidFill>
              </a:rPr>
              <a:t>Worksheets are completed and marked online.</a:t>
            </a:r>
            <a:endParaRPr lang="en-US" sz="1200" dirty="0"/>
          </a:p>
        </p:txBody>
      </p:sp>
      <p:sp>
        <p:nvSpPr>
          <p:cNvPr id="18" name="Class code or QR poster card"/>
          <p:cNvSpPr/>
          <p:nvPr/>
        </p:nvSpPr>
        <p:spPr>
          <a:xfrm>
            <a:off x="457200" y="2971800"/>
            <a:ext cx="2651760" cy="1554480"/>
          </a:xfrm>
          <a:prstGeom prst="roundRect">
            <a:avLst>
              <a:gd name="adj" fmla="val 5882"/>
            </a:avLst>
          </a:prstGeom>
          <a:solidFill>
            <a:schemeClr val="bg1"/>
          </a:solidFill>
          <a:ln w="12700">
            <a:solidFill>
              <a:srgbClr val="D3DBCD"/>
            </a:solidFill>
            <a:prstDash val="solid"/>
          </a:ln>
        </p:spPr>
      </p:sp>
      <p:sp>
        <p:nvSpPr>
          <p:cNvPr id="19" name="Class code or QR poster circle"/>
          <p:cNvSpPr/>
          <p:nvPr/>
        </p:nvSpPr>
        <p:spPr>
          <a:xfrm>
            <a:off x="685800" y="3154680"/>
            <a:ext cx="548640" cy="548640"/>
          </a:xfrm>
          <a:prstGeom prst="ellipse">
            <a:avLst/>
          </a:prstGeom>
          <a:solidFill>
            <a:schemeClr val="accent1"/>
          </a:solidFill>
          <a:ln w="12700">
            <a:solidFill>
              <a:schemeClr val="accent1"/>
            </a:solidFill>
            <a:prstDash val="solid"/>
          </a:ln>
        </p:spPr>
      </p:sp>
      <p:pic>
        <p:nvPicPr>
          <p:cNvPr id="20" name="Image 3" descr="Class code or QR poster">    </p:cNvPr>
          <p:cNvPicPr>
            <a:picLocks noChangeAspect="1"/>
          </p:cNvPicPr>
          <p:nvPr/>
        </p:nvPicPr>
        <p:blipFill>
          <a:blip r:embed="rId4"/>
          <a:stretch>
            <a:fillRect/>
          </a:stretch>
        </p:blipFill>
        <p:spPr>
          <a:xfrm>
            <a:off x="822960" y="3291840"/>
            <a:ext cx="274320" cy="274320"/>
          </a:xfrm>
          <a:prstGeom prst="rect">
            <a:avLst/>
          </a:prstGeom>
        </p:spPr>
      </p:pic>
      <p:sp>
        <p:nvSpPr>
          <p:cNvPr id="21" name="Text 15"/>
          <p:cNvSpPr txBox="1"/>
          <p:nvPr/>
        </p:nvSpPr>
        <p:spPr>
          <a:xfrm>
            <a:off x="685800" y="3794760"/>
            <a:ext cx="2240280" cy="274320"/>
          </a:xfrm>
          <a:prstGeom prst="rect">
            <a:avLst/>
          </a:prstGeom>
          <a:noFill/>
          <a:ln/>
        </p:spPr>
        <p:txBody>
          <a:bodyPr wrap="square" lIns="0" tIns="0" rIns="0" bIns="0" rtlCol="0" anchor="ctr"/>
          <a:lstStyle/>
          <a:p>
            <a:pPr indent="0" marL="0">
              <a:buNone/>
            </a:pPr>
            <a:r>
              <a:rPr lang="en-US" sz="1500" b="1" dirty="0">
                <a:solidFill>
                  <a:schemeClr val="tx1"/>
                </a:solidFill>
              </a:rPr>
              <a:t>Class code or QR poster</a:t>
            </a:r>
            <a:endParaRPr lang="en-US" sz="1500" dirty="0"/>
          </a:p>
        </p:txBody>
      </p:sp>
      <p:sp>
        <p:nvSpPr>
          <p:cNvPr id="22" name="Text 16"/>
          <p:cNvSpPr txBox="1"/>
          <p:nvPr/>
        </p:nvSpPr>
        <p:spPr>
          <a:xfrm>
            <a:off x="685800" y="4069080"/>
            <a:ext cx="2240280" cy="411480"/>
          </a:xfrm>
          <a:prstGeom prst="rect">
            <a:avLst/>
          </a:prstGeom>
          <a:noFill/>
          <a:ln/>
        </p:spPr>
        <p:txBody>
          <a:bodyPr wrap="square" lIns="0" tIns="0" rIns="0" bIns="0" rtlCol="0" anchor="t"/>
          <a:lstStyle/>
          <a:p>
            <a:pPr indent="0" marL="0">
              <a:buNone/>
            </a:pPr>
            <a:r>
              <a:rPr lang="en-US" sz="1200" dirty="0">
                <a:solidFill>
                  <a:schemeClr val="accent5"/>
                </a:solidFill>
              </a:rPr>
              <a:t>Students join in seconds.</a:t>
            </a:r>
            <a:endParaRPr lang="en-US" sz="1200" dirty="0"/>
          </a:p>
        </p:txBody>
      </p:sp>
      <p:sp>
        <p:nvSpPr>
          <p:cNvPr id="23" name="Unlock topics card"/>
          <p:cNvSpPr/>
          <p:nvPr/>
        </p:nvSpPr>
        <p:spPr>
          <a:xfrm>
            <a:off x="3246120" y="2971800"/>
            <a:ext cx="2651760" cy="1554480"/>
          </a:xfrm>
          <a:prstGeom prst="roundRect">
            <a:avLst>
              <a:gd name="adj" fmla="val 5882"/>
            </a:avLst>
          </a:prstGeom>
          <a:solidFill>
            <a:schemeClr val="bg1"/>
          </a:solidFill>
          <a:ln w="12700">
            <a:solidFill>
              <a:srgbClr val="D3DBCD"/>
            </a:solidFill>
            <a:prstDash val="solid"/>
          </a:ln>
        </p:spPr>
      </p:sp>
      <p:sp>
        <p:nvSpPr>
          <p:cNvPr id="24" name="Unlock topics circle"/>
          <p:cNvSpPr/>
          <p:nvPr/>
        </p:nvSpPr>
        <p:spPr>
          <a:xfrm>
            <a:off x="3474720" y="3154680"/>
            <a:ext cx="548640" cy="548640"/>
          </a:xfrm>
          <a:prstGeom prst="ellipse">
            <a:avLst/>
          </a:prstGeom>
          <a:solidFill>
            <a:schemeClr val="accent1"/>
          </a:solidFill>
          <a:ln w="12700">
            <a:solidFill>
              <a:schemeClr val="accent1"/>
            </a:solidFill>
            <a:prstDash val="solid"/>
          </a:ln>
        </p:spPr>
      </p:sp>
      <p:pic>
        <p:nvPicPr>
          <p:cNvPr id="25" name="Image 4" descr="Unlock topics">    </p:cNvPr>
          <p:cNvPicPr>
            <a:picLocks noChangeAspect="1"/>
          </p:cNvPicPr>
          <p:nvPr/>
        </p:nvPicPr>
        <p:blipFill>
          <a:blip r:embed="rId5"/>
          <a:stretch>
            <a:fillRect/>
          </a:stretch>
        </p:blipFill>
        <p:spPr>
          <a:xfrm>
            <a:off x="3611880" y="3291840"/>
            <a:ext cx="274320" cy="274320"/>
          </a:xfrm>
          <a:prstGeom prst="rect">
            <a:avLst/>
          </a:prstGeom>
        </p:spPr>
      </p:pic>
      <p:sp>
        <p:nvSpPr>
          <p:cNvPr id="26" name="Text 19"/>
          <p:cNvSpPr txBox="1"/>
          <p:nvPr/>
        </p:nvSpPr>
        <p:spPr>
          <a:xfrm>
            <a:off x="3474720" y="3794760"/>
            <a:ext cx="2240280" cy="274320"/>
          </a:xfrm>
          <a:prstGeom prst="rect">
            <a:avLst/>
          </a:prstGeom>
          <a:noFill/>
          <a:ln/>
        </p:spPr>
        <p:txBody>
          <a:bodyPr wrap="square" lIns="0" tIns="0" rIns="0" bIns="0" rtlCol="0" anchor="ctr"/>
          <a:lstStyle/>
          <a:p>
            <a:pPr indent="0" marL="0">
              <a:buNone/>
            </a:pPr>
            <a:r>
              <a:rPr lang="en-US" sz="1500" b="1" dirty="0">
                <a:solidFill>
                  <a:schemeClr val="tx1"/>
                </a:solidFill>
              </a:rPr>
              <a:t>Unlock topics</a:t>
            </a:r>
            <a:endParaRPr lang="en-US" sz="1500" dirty="0"/>
          </a:p>
        </p:txBody>
      </p:sp>
      <p:sp>
        <p:nvSpPr>
          <p:cNvPr id="27" name="Text 20"/>
          <p:cNvSpPr txBox="1"/>
          <p:nvPr/>
        </p:nvSpPr>
        <p:spPr>
          <a:xfrm>
            <a:off x="3474720" y="4069080"/>
            <a:ext cx="2240280" cy="411480"/>
          </a:xfrm>
          <a:prstGeom prst="rect">
            <a:avLst/>
          </a:prstGeom>
          <a:noFill/>
          <a:ln/>
        </p:spPr>
        <p:txBody>
          <a:bodyPr wrap="square" lIns="0" tIns="0" rIns="0" bIns="0" rtlCol="0" anchor="t"/>
          <a:lstStyle/>
          <a:p>
            <a:pPr indent="0" marL="0">
              <a:buNone/>
            </a:pPr>
            <a:r>
              <a:rPr lang="en-US" sz="1200" dirty="0">
                <a:solidFill>
                  <a:schemeClr val="accent5"/>
                </a:solidFill>
              </a:rPr>
              <a:t>Open topics as you teach them.</a:t>
            </a:r>
            <a:endParaRPr lang="en-US" sz="1200" dirty="0"/>
          </a:p>
        </p:txBody>
      </p:sp>
      <p:sp>
        <p:nvSpPr>
          <p:cNvPr id="28" name="Live quick quizzes card"/>
          <p:cNvSpPr/>
          <p:nvPr/>
        </p:nvSpPr>
        <p:spPr>
          <a:xfrm>
            <a:off x="6035040" y="2971800"/>
            <a:ext cx="2651760" cy="1554480"/>
          </a:xfrm>
          <a:prstGeom prst="roundRect">
            <a:avLst>
              <a:gd name="adj" fmla="val 5882"/>
            </a:avLst>
          </a:prstGeom>
          <a:solidFill>
            <a:schemeClr val="bg1"/>
          </a:solidFill>
          <a:ln w="12700">
            <a:solidFill>
              <a:srgbClr val="D3DBCD"/>
            </a:solidFill>
            <a:prstDash val="solid"/>
          </a:ln>
        </p:spPr>
      </p:sp>
      <p:sp>
        <p:nvSpPr>
          <p:cNvPr id="29" name="Live quick quizzes circle"/>
          <p:cNvSpPr/>
          <p:nvPr/>
        </p:nvSpPr>
        <p:spPr>
          <a:xfrm>
            <a:off x="6263640" y="3154680"/>
            <a:ext cx="548640" cy="548640"/>
          </a:xfrm>
          <a:prstGeom prst="ellipse">
            <a:avLst/>
          </a:prstGeom>
          <a:solidFill>
            <a:schemeClr val="accent1"/>
          </a:solidFill>
          <a:ln w="12700">
            <a:solidFill>
              <a:schemeClr val="accent1"/>
            </a:solidFill>
            <a:prstDash val="solid"/>
          </a:ln>
        </p:spPr>
      </p:sp>
      <p:pic>
        <p:nvPicPr>
          <p:cNvPr id="30" name="Image 5" descr="Live quick quizzes">    </p:cNvPr>
          <p:cNvPicPr>
            <a:picLocks noChangeAspect="1"/>
          </p:cNvPicPr>
          <p:nvPr/>
        </p:nvPicPr>
        <p:blipFill>
          <a:blip r:embed="rId6"/>
          <a:stretch>
            <a:fillRect/>
          </a:stretch>
        </p:blipFill>
        <p:spPr>
          <a:xfrm>
            <a:off x="6400800" y="3291840"/>
            <a:ext cx="274320" cy="274320"/>
          </a:xfrm>
          <a:prstGeom prst="rect">
            <a:avLst/>
          </a:prstGeom>
        </p:spPr>
      </p:pic>
      <p:sp>
        <p:nvSpPr>
          <p:cNvPr id="31" name="Text 23"/>
          <p:cNvSpPr txBox="1"/>
          <p:nvPr/>
        </p:nvSpPr>
        <p:spPr>
          <a:xfrm>
            <a:off x="6263640" y="3794760"/>
            <a:ext cx="2240280" cy="274320"/>
          </a:xfrm>
          <a:prstGeom prst="rect">
            <a:avLst/>
          </a:prstGeom>
          <a:noFill/>
          <a:ln/>
        </p:spPr>
        <p:txBody>
          <a:bodyPr wrap="square" lIns="0" tIns="0" rIns="0" bIns="0" rtlCol="0" anchor="ctr"/>
          <a:lstStyle/>
          <a:p>
            <a:pPr indent="0" marL="0">
              <a:buNone/>
            </a:pPr>
            <a:r>
              <a:rPr lang="en-US" sz="1500" b="1" dirty="0">
                <a:solidFill>
                  <a:schemeClr val="tx1"/>
                </a:solidFill>
              </a:rPr>
              <a:t>Live quick quizzes</a:t>
            </a:r>
            <a:endParaRPr lang="en-US" sz="1500" dirty="0"/>
          </a:p>
        </p:txBody>
      </p:sp>
      <p:sp>
        <p:nvSpPr>
          <p:cNvPr id="32" name="Text 24"/>
          <p:cNvSpPr txBox="1"/>
          <p:nvPr/>
        </p:nvSpPr>
        <p:spPr>
          <a:xfrm>
            <a:off x="6263640" y="4069080"/>
            <a:ext cx="2240280" cy="411480"/>
          </a:xfrm>
          <a:prstGeom prst="rect">
            <a:avLst/>
          </a:prstGeom>
          <a:noFill/>
          <a:ln/>
        </p:spPr>
        <p:txBody>
          <a:bodyPr wrap="square" lIns="0" tIns="0" rIns="0" bIns="0" rtlCol="0" anchor="t"/>
          <a:lstStyle/>
          <a:p>
            <a:pPr indent="0" marL="0">
              <a:buNone/>
            </a:pPr>
            <a:r>
              <a:rPr lang="en-US" sz="1200" dirty="0">
                <a:solidFill>
                  <a:schemeClr val="accent5"/>
                </a:solidFill>
              </a:rPr>
              <a:t>Check understanding in the moment.</a:t>
            </a:r>
            <a:endParaRPr lang="en-US" sz="12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rPr>
              <a:t>For teachers: progress at a glance (K–8)</a:t>
            </a:r>
            <a:endParaRPr lang="en-US" sz="3000" dirty="0"/>
          </a:p>
        </p:txBody>
      </p:sp>
      <p:sp>
        <p:nvSpPr>
          <p:cNvPr id="3" name="tracked items card"/>
          <p:cNvSpPr/>
          <p:nvPr/>
        </p:nvSpPr>
        <p:spPr>
          <a:xfrm>
            <a:off x="457200" y="1234440"/>
            <a:ext cx="4937760" cy="3200400"/>
          </a:xfrm>
          <a:prstGeom prst="roundRect">
            <a:avLst>
              <a:gd name="adj" fmla="val 2857"/>
            </a:avLst>
          </a:prstGeom>
          <a:solidFill>
            <a:schemeClr val="accent4"/>
          </a:solidFill>
          <a:ln w="12700">
            <a:solidFill>
              <a:srgbClr val="1F4B38"/>
            </a:solidFill>
            <a:prstDash val="solid"/>
          </a:ln>
        </p:spPr>
      </p:sp>
      <p:sp>
        <p:nvSpPr>
          <p:cNvPr id="4" name="Text 2"/>
          <p:cNvSpPr txBox="1"/>
          <p:nvPr/>
        </p:nvSpPr>
        <p:spPr>
          <a:xfrm>
            <a:off x="685800" y="1371600"/>
            <a:ext cx="4480560" cy="320040"/>
          </a:xfrm>
          <a:prstGeom prst="rect">
            <a:avLst/>
          </a:prstGeom>
          <a:noFill/>
          <a:ln/>
        </p:spPr>
        <p:txBody>
          <a:bodyPr wrap="square" lIns="0" tIns="0" rIns="0" bIns="0" rtlCol="0" anchor="ctr"/>
          <a:lstStyle/>
          <a:p>
            <a:pPr indent="0" marL="0">
              <a:buNone/>
            </a:pPr>
            <a:r>
              <a:rPr lang="en-US" sz="1600" b="1" dirty="0">
                <a:solidFill>
                  <a:schemeClr val="accent2"/>
                </a:solidFill>
              </a:rPr>
              <a:t>For every student and every topic, see whether…</a:t>
            </a:r>
            <a:endParaRPr lang="en-US" sz="1600" dirty="0"/>
          </a:p>
        </p:txBody>
      </p:sp>
      <p:sp>
        <p:nvSpPr>
          <p:cNvPr id="5" name="Text 3"/>
          <p:cNvSpPr txBox="1"/>
          <p:nvPr/>
        </p:nvSpPr>
        <p:spPr>
          <a:xfrm>
            <a:off x="685800" y="1828800"/>
            <a:ext cx="4480560" cy="1554480"/>
          </a:xfrm>
          <a:prstGeom prst="rect">
            <a:avLst/>
          </a:prstGeom>
          <a:noFill/>
          <a:ln/>
        </p:spPr>
        <p:txBody>
          <a:bodyPr wrap="square" lIns="0" tIns="0" rIns="0" bIns="0" rtlCol="0" anchor="t"/>
          <a:lstStyle/>
          <a:p>
            <a:pPr marL="342900" indent="-342900">
              <a:spcAft>
                <a:spcPts val="600"/>
              </a:spcAft>
              <a:buSzPct val="100000"/>
              <a:buChar char="•"/>
            </a:pPr>
            <a:r>
              <a:rPr lang="en-US" sz="1600" dirty="0">
                <a:solidFill>
                  <a:schemeClr val="bg1"/>
                </a:solidFill>
              </a:rPr>
              <a:t>the video was watched</a:t>
            </a:r>
            <a:endParaRPr lang="en-US" sz="1600" dirty="0"/>
          </a:p>
          <a:p>
            <a:pPr marL="342900" indent="-342900">
              <a:spcAft>
                <a:spcPts val="600"/>
              </a:spcAft>
              <a:buSzPct val="100000"/>
              <a:buChar char="•"/>
            </a:pPr>
            <a:r>
              <a:rPr lang="en-US" sz="1600" dirty="0">
                <a:solidFill>
                  <a:schemeClr val="bg1"/>
                </a:solidFill>
              </a:rPr>
              <a:t>the slides were viewed</a:t>
            </a:r>
            <a:endParaRPr lang="en-US" sz="1600" dirty="0"/>
          </a:p>
          <a:p>
            <a:pPr marL="342900" indent="-342900">
              <a:spcAft>
                <a:spcPts val="600"/>
              </a:spcAft>
              <a:buSzPct val="100000"/>
              <a:buChar char="•"/>
            </a:pPr>
            <a:r>
              <a:rPr lang="en-US" sz="1600" dirty="0">
                <a:solidFill>
                  <a:schemeClr val="bg1"/>
                </a:solidFill>
              </a:rPr>
              <a:t>the worksheet was submitted</a:t>
            </a:r>
            <a:endParaRPr lang="en-US" sz="1600" dirty="0"/>
          </a:p>
          <a:p>
            <a:pPr marL="342900" indent="-342900">
              <a:spcAft>
                <a:spcPts val="600"/>
              </a:spcAft>
              <a:buSzPct val="100000"/>
              <a:buChar char="•"/>
            </a:pPr>
            <a:r>
              <a:rPr lang="en-US" sz="1600" dirty="0">
                <a:solidFill>
                  <a:schemeClr val="bg1"/>
                </a:solidFill>
              </a:rPr>
              <a:t>the quiz was completed</a:t>
            </a:r>
            <a:endParaRPr lang="en-US" sz="1600" dirty="0"/>
          </a:p>
          <a:p>
            <a:pPr marL="342900" indent="-342900">
              <a:spcAft>
                <a:spcPts val="600"/>
              </a:spcAft>
              <a:buSzPct val="100000"/>
              <a:buChar char="•"/>
            </a:pPr>
            <a:r>
              <a:rPr lang="en-US" sz="1600" dirty="0">
                <a:solidFill>
                  <a:schemeClr val="bg1"/>
                </a:solidFill>
              </a:rPr>
              <a:t>the games were played</a:t>
            </a:r>
            <a:endParaRPr lang="en-US" sz="1600" dirty="0"/>
          </a:p>
        </p:txBody>
      </p:sp>
      <p:sp>
        <p:nvSpPr>
          <p:cNvPr id="6" name="Text 4"/>
          <p:cNvSpPr txBox="1"/>
          <p:nvPr/>
        </p:nvSpPr>
        <p:spPr>
          <a:xfrm>
            <a:off x="685800" y="3520440"/>
            <a:ext cx="4480560" cy="777240"/>
          </a:xfrm>
          <a:prstGeom prst="rect">
            <a:avLst/>
          </a:prstGeom>
          <a:noFill/>
          <a:ln/>
        </p:spPr>
        <p:txBody>
          <a:bodyPr wrap="square" lIns="0" tIns="0" rIns="0" bIns="0" rtlCol="0" anchor="t"/>
          <a:lstStyle/>
          <a:p>
            <a:pPr indent="0" marL="0">
              <a:buNone/>
            </a:pPr>
            <a:r>
              <a:rPr lang="en-US" sz="1400" dirty="0">
                <a:solidFill>
                  <a:srgbClr val="B7D4C2"/>
                </a:solidFill>
              </a:rPr>
              <a:t>Open any submitted worksheet or quiz to see each student’s answers and mistakes.</a:t>
            </a:r>
            <a:endParaRPr lang="en-US" sz="1400" dirty="0"/>
          </a:p>
        </p:txBody>
      </p:sp>
      <p:sp>
        <p:nvSpPr>
          <p:cNvPr id="7" name="levels card"/>
          <p:cNvSpPr/>
          <p:nvPr/>
        </p:nvSpPr>
        <p:spPr>
          <a:xfrm>
            <a:off x="5577840" y="1234440"/>
            <a:ext cx="3108960" cy="3200400"/>
          </a:xfrm>
          <a:prstGeom prst="roundRect">
            <a:avLst>
              <a:gd name="adj" fmla="val 2941"/>
            </a:avLst>
          </a:prstGeom>
          <a:solidFill>
            <a:schemeClr val="accent4"/>
          </a:solidFill>
          <a:ln w="12700">
            <a:solidFill>
              <a:srgbClr val="1F4B38"/>
            </a:solidFill>
            <a:prstDash val="solid"/>
          </a:ln>
        </p:spPr>
      </p:sp>
      <p:sp>
        <p:nvSpPr>
          <p:cNvPr id="8" name="Text 6"/>
          <p:cNvSpPr txBox="1"/>
          <p:nvPr/>
        </p:nvSpPr>
        <p:spPr>
          <a:xfrm>
            <a:off x="5577840" y="1737360"/>
            <a:ext cx="3108960" cy="731520"/>
          </a:xfrm>
          <a:prstGeom prst="rect">
            <a:avLst/>
          </a:prstGeom>
          <a:noFill/>
          <a:ln/>
        </p:spPr>
        <p:txBody>
          <a:bodyPr wrap="square" lIns="0" tIns="0" rIns="0" bIns="0" rtlCol="0" anchor="ctr"/>
          <a:lstStyle/>
          <a:p>
            <a:pPr algn="ctr" indent="0" marL="0">
              <a:buNone/>
            </a:pPr>
            <a:r>
              <a:rPr lang="en-US" sz="3800" b="1" dirty="0">
                <a:solidFill>
                  <a:schemeClr val="accent3"/>
                </a:solidFill>
                <a:latin typeface="Cambria" pitchFamily="34" charset="0"/>
                <a:ea typeface="Cambria" pitchFamily="34" charset="-122"/>
                <a:cs typeface="Cambria" pitchFamily="34" charset="-120"/>
              </a:rPr>
              <a:t>Levels 1–4</a:t>
            </a:r>
            <a:endParaRPr lang="en-US" sz="3800" dirty="0"/>
          </a:p>
        </p:txBody>
      </p:sp>
      <p:sp>
        <p:nvSpPr>
          <p:cNvPr id="9" name="Text 7"/>
          <p:cNvSpPr txBox="1"/>
          <p:nvPr/>
        </p:nvSpPr>
        <p:spPr>
          <a:xfrm>
            <a:off x="5806440" y="2651760"/>
            <a:ext cx="2651760" cy="1280160"/>
          </a:xfrm>
          <a:prstGeom prst="rect">
            <a:avLst/>
          </a:prstGeom>
          <a:noFill/>
          <a:ln/>
        </p:spPr>
        <p:txBody>
          <a:bodyPr wrap="square" lIns="0" tIns="0" rIns="0" bIns="0" rtlCol="0" anchor="t"/>
          <a:lstStyle/>
          <a:p>
            <a:pPr algn="ctr" indent="0" marL="0">
              <a:buNone/>
            </a:pPr>
            <a:r>
              <a:rPr lang="en-US" sz="1400" dirty="0">
                <a:solidFill>
                  <a:schemeClr val="bg1"/>
                </a:solidFill>
              </a:rPr>
              <a:t>An overall grade for each student, shown on the Ontario Levels 1–4 scale.</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7D4C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For teachers: Grades 9 to 12</a:t>
            </a:r>
            <a:endParaRPr lang="en-US" sz="3000" dirty="0"/>
          </a:p>
        </p:txBody>
      </p:sp>
      <p:sp>
        <p:nvSpPr>
          <p:cNvPr id="3" name="Join code card"/>
          <p:cNvSpPr/>
          <p:nvPr/>
        </p:nvSpPr>
        <p:spPr>
          <a:xfrm>
            <a:off x="457200" y="1234440"/>
            <a:ext cx="2651760" cy="1554480"/>
          </a:xfrm>
          <a:prstGeom prst="roundRect">
            <a:avLst>
              <a:gd name="adj" fmla="val 5882"/>
            </a:avLst>
          </a:prstGeom>
          <a:solidFill>
            <a:schemeClr val="bg1"/>
          </a:solidFill>
          <a:ln w="12700">
            <a:solidFill>
              <a:srgbClr val="D3DBCD"/>
            </a:solidFill>
            <a:prstDash val="solid"/>
          </a:ln>
        </p:spPr>
      </p:sp>
      <p:sp>
        <p:nvSpPr>
          <p:cNvPr id="4" name="Join code circle"/>
          <p:cNvSpPr/>
          <p:nvPr/>
        </p:nvSpPr>
        <p:spPr>
          <a:xfrm>
            <a:off x="685800" y="1417320"/>
            <a:ext cx="548640" cy="548640"/>
          </a:xfrm>
          <a:prstGeom prst="ellipse">
            <a:avLst/>
          </a:prstGeom>
          <a:solidFill>
            <a:schemeClr val="accent1"/>
          </a:solidFill>
          <a:ln w="12700">
            <a:solidFill>
              <a:schemeClr val="accent1"/>
            </a:solidFill>
            <a:prstDash val="solid"/>
          </a:ln>
        </p:spPr>
      </p:sp>
      <p:pic>
        <p:nvPicPr>
          <p:cNvPr id="5" name="Image 0" descr="Join code">    </p:cNvPr>
          <p:cNvPicPr>
            <a:picLocks noChangeAspect="1"/>
          </p:cNvPicPr>
          <p:nvPr/>
        </p:nvPicPr>
        <p:blipFill>
          <a:blip r:embed="rId1"/>
          <a:stretch>
            <a:fillRect/>
          </a:stretch>
        </p:blipFill>
        <p:spPr>
          <a:xfrm>
            <a:off x="822960" y="1554480"/>
            <a:ext cx="274320" cy="274320"/>
          </a:xfrm>
          <a:prstGeom prst="rect">
            <a:avLst/>
          </a:prstGeom>
        </p:spPr>
      </p:pic>
      <p:sp>
        <p:nvSpPr>
          <p:cNvPr id="6" name="Text 3"/>
          <p:cNvSpPr txBox="1"/>
          <p:nvPr/>
        </p:nvSpPr>
        <p:spPr>
          <a:xfrm>
            <a:off x="685800" y="2057400"/>
            <a:ext cx="2240280" cy="274320"/>
          </a:xfrm>
          <a:prstGeom prst="rect">
            <a:avLst/>
          </a:prstGeom>
          <a:noFill/>
          <a:ln/>
        </p:spPr>
        <p:txBody>
          <a:bodyPr wrap="square" lIns="0" tIns="0" rIns="0" bIns="0" rtlCol="0" anchor="ctr"/>
          <a:lstStyle/>
          <a:p>
            <a:pPr indent="0" marL="0">
              <a:buNone/>
            </a:pPr>
            <a:r>
              <a:rPr lang="en-US" sz="1500" b="1" dirty="0">
                <a:solidFill>
                  <a:schemeClr val="tx1"/>
                </a:solidFill>
              </a:rPr>
              <a:t>Join code</a:t>
            </a:r>
            <a:endParaRPr lang="en-US" sz="1500" dirty="0"/>
          </a:p>
        </p:txBody>
      </p:sp>
      <p:sp>
        <p:nvSpPr>
          <p:cNvPr id="7" name="Text 4"/>
          <p:cNvSpPr txBox="1"/>
          <p:nvPr/>
        </p:nvSpPr>
        <p:spPr>
          <a:xfrm>
            <a:off x="685800" y="2331720"/>
            <a:ext cx="2240280" cy="411480"/>
          </a:xfrm>
          <a:prstGeom prst="rect">
            <a:avLst/>
          </a:prstGeom>
          <a:noFill/>
          <a:ln/>
        </p:spPr>
        <p:txBody>
          <a:bodyPr wrap="square" lIns="0" tIns="0" rIns="0" bIns="0" rtlCol="0" anchor="t"/>
          <a:lstStyle/>
          <a:p>
            <a:pPr indent="0" marL="0">
              <a:buNone/>
            </a:pPr>
            <a:r>
              <a:rPr lang="en-US" sz="1200" dirty="0">
                <a:solidFill>
                  <a:schemeClr val="accent5"/>
                </a:solidFill>
              </a:rPr>
              <a:t>Create a class and share a code.</a:t>
            </a:r>
            <a:endParaRPr lang="en-US" sz="1200" dirty="0"/>
          </a:p>
        </p:txBody>
      </p:sp>
      <p:sp>
        <p:nvSpPr>
          <p:cNvPr id="8" name="Curate card"/>
          <p:cNvSpPr/>
          <p:nvPr/>
        </p:nvSpPr>
        <p:spPr>
          <a:xfrm>
            <a:off x="3246120" y="1234440"/>
            <a:ext cx="2651760" cy="1554480"/>
          </a:xfrm>
          <a:prstGeom prst="roundRect">
            <a:avLst>
              <a:gd name="adj" fmla="val 5882"/>
            </a:avLst>
          </a:prstGeom>
          <a:solidFill>
            <a:schemeClr val="bg1"/>
          </a:solidFill>
          <a:ln w="12700">
            <a:solidFill>
              <a:srgbClr val="D3DBCD"/>
            </a:solidFill>
            <a:prstDash val="solid"/>
          </a:ln>
        </p:spPr>
      </p:sp>
      <p:sp>
        <p:nvSpPr>
          <p:cNvPr id="9" name="Curate circle"/>
          <p:cNvSpPr/>
          <p:nvPr/>
        </p:nvSpPr>
        <p:spPr>
          <a:xfrm>
            <a:off x="3474720" y="1417320"/>
            <a:ext cx="548640" cy="548640"/>
          </a:xfrm>
          <a:prstGeom prst="ellipse">
            <a:avLst/>
          </a:prstGeom>
          <a:solidFill>
            <a:schemeClr val="accent1"/>
          </a:solidFill>
          <a:ln w="12700">
            <a:solidFill>
              <a:schemeClr val="accent1"/>
            </a:solidFill>
            <a:prstDash val="solid"/>
          </a:ln>
        </p:spPr>
      </p:sp>
      <p:pic>
        <p:nvPicPr>
          <p:cNvPr id="10" name="Image 1" descr="Curate">    </p:cNvPr>
          <p:cNvPicPr>
            <a:picLocks noChangeAspect="1"/>
          </p:cNvPicPr>
          <p:nvPr/>
        </p:nvPicPr>
        <p:blipFill>
          <a:blip r:embed="rId2"/>
          <a:stretch>
            <a:fillRect/>
          </a:stretch>
        </p:blipFill>
        <p:spPr>
          <a:xfrm>
            <a:off x="3611880" y="1554480"/>
            <a:ext cx="274320" cy="274320"/>
          </a:xfrm>
          <a:prstGeom prst="rect">
            <a:avLst/>
          </a:prstGeom>
        </p:spPr>
      </p:pic>
      <p:sp>
        <p:nvSpPr>
          <p:cNvPr id="11" name="Text 7"/>
          <p:cNvSpPr txBox="1"/>
          <p:nvPr/>
        </p:nvSpPr>
        <p:spPr>
          <a:xfrm>
            <a:off x="3474720" y="2057400"/>
            <a:ext cx="2240280" cy="274320"/>
          </a:xfrm>
          <a:prstGeom prst="rect">
            <a:avLst/>
          </a:prstGeom>
          <a:noFill/>
          <a:ln/>
        </p:spPr>
        <p:txBody>
          <a:bodyPr wrap="square" lIns="0" tIns="0" rIns="0" bIns="0" rtlCol="0" anchor="ctr"/>
          <a:lstStyle/>
          <a:p>
            <a:pPr indent="0" marL="0">
              <a:buNone/>
            </a:pPr>
            <a:r>
              <a:rPr lang="en-US" sz="1500" b="1" dirty="0">
                <a:solidFill>
                  <a:schemeClr val="tx1"/>
                </a:solidFill>
              </a:rPr>
              <a:t>Curate</a:t>
            </a:r>
            <a:endParaRPr lang="en-US" sz="1500" dirty="0"/>
          </a:p>
        </p:txBody>
      </p:sp>
      <p:sp>
        <p:nvSpPr>
          <p:cNvPr id="12" name="Text 8"/>
          <p:cNvSpPr txBox="1"/>
          <p:nvPr/>
        </p:nvSpPr>
        <p:spPr>
          <a:xfrm>
            <a:off x="3474720" y="2331720"/>
            <a:ext cx="2240280" cy="411480"/>
          </a:xfrm>
          <a:prstGeom prst="rect">
            <a:avLst/>
          </a:prstGeom>
          <a:noFill/>
          <a:ln/>
        </p:spPr>
        <p:txBody>
          <a:bodyPr wrap="square" lIns="0" tIns="0" rIns="0" bIns="0" rtlCol="0" anchor="t"/>
          <a:lstStyle/>
          <a:p>
            <a:pPr indent="0" marL="0">
              <a:buNone/>
            </a:pPr>
            <a:r>
              <a:rPr lang="en-US" sz="1200" dirty="0">
                <a:solidFill>
                  <a:schemeClr val="accent5"/>
                </a:solidFill>
              </a:rPr>
              <a:t>Choose which lessons and quizzes students see.</a:t>
            </a:r>
            <a:endParaRPr lang="en-US" sz="1200" dirty="0"/>
          </a:p>
        </p:txBody>
      </p:sp>
      <p:sp>
        <p:nvSpPr>
          <p:cNvPr id="13" name="Build quizzes card"/>
          <p:cNvSpPr/>
          <p:nvPr/>
        </p:nvSpPr>
        <p:spPr>
          <a:xfrm>
            <a:off x="6035040" y="1234440"/>
            <a:ext cx="2651760" cy="1554480"/>
          </a:xfrm>
          <a:prstGeom prst="roundRect">
            <a:avLst>
              <a:gd name="adj" fmla="val 5882"/>
            </a:avLst>
          </a:prstGeom>
          <a:solidFill>
            <a:schemeClr val="bg1"/>
          </a:solidFill>
          <a:ln w="12700">
            <a:solidFill>
              <a:srgbClr val="D3DBCD"/>
            </a:solidFill>
            <a:prstDash val="solid"/>
          </a:ln>
        </p:spPr>
      </p:sp>
      <p:sp>
        <p:nvSpPr>
          <p:cNvPr id="14" name="Build quizzes circle"/>
          <p:cNvSpPr/>
          <p:nvPr/>
        </p:nvSpPr>
        <p:spPr>
          <a:xfrm>
            <a:off x="6263640" y="1417320"/>
            <a:ext cx="548640" cy="548640"/>
          </a:xfrm>
          <a:prstGeom prst="ellipse">
            <a:avLst/>
          </a:prstGeom>
          <a:solidFill>
            <a:schemeClr val="accent1"/>
          </a:solidFill>
          <a:ln w="12700">
            <a:solidFill>
              <a:schemeClr val="accent1"/>
            </a:solidFill>
            <a:prstDash val="solid"/>
          </a:ln>
        </p:spPr>
      </p:sp>
      <p:pic>
        <p:nvPicPr>
          <p:cNvPr id="15" name="Image 2" descr="Build quizzes">    </p:cNvPr>
          <p:cNvPicPr>
            <a:picLocks noChangeAspect="1"/>
          </p:cNvPicPr>
          <p:nvPr/>
        </p:nvPicPr>
        <p:blipFill>
          <a:blip r:embed="rId3"/>
          <a:stretch>
            <a:fillRect/>
          </a:stretch>
        </p:blipFill>
        <p:spPr>
          <a:xfrm>
            <a:off x="6400800" y="1554480"/>
            <a:ext cx="274320" cy="274320"/>
          </a:xfrm>
          <a:prstGeom prst="rect">
            <a:avLst/>
          </a:prstGeom>
        </p:spPr>
      </p:pic>
      <p:sp>
        <p:nvSpPr>
          <p:cNvPr id="16" name="Text 11"/>
          <p:cNvSpPr txBox="1"/>
          <p:nvPr/>
        </p:nvSpPr>
        <p:spPr>
          <a:xfrm>
            <a:off x="6263640" y="2057400"/>
            <a:ext cx="2240280" cy="274320"/>
          </a:xfrm>
          <a:prstGeom prst="rect">
            <a:avLst/>
          </a:prstGeom>
          <a:noFill/>
          <a:ln/>
        </p:spPr>
        <p:txBody>
          <a:bodyPr wrap="square" lIns="0" tIns="0" rIns="0" bIns="0" rtlCol="0" anchor="ctr"/>
          <a:lstStyle/>
          <a:p>
            <a:pPr indent="0" marL="0">
              <a:buNone/>
            </a:pPr>
            <a:r>
              <a:rPr lang="en-US" sz="1500" b="1" dirty="0">
                <a:solidFill>
                  <a:schemeClr val="tx1"/>
                </a:solidFill>
              </a:rPr>
              <a:t>Build quizzes</a:t>
            </a:r>
            <a:endParaRPr lang="en-US" sz="1500" dirty="0"/>
          </a:p>
        </p:txBody>
      </p:sp>
      <p:sp>
        <p:nvSpPr>
          <p:cNvPr id="17" name="Text 12"/>
          <p:cNvSpPr txBox="1"/>
          <p:nvPr/>
        </p:nvSpPr>
        <p:spPr>
          <a:xfrm>
            <a:off x="6263640" y="2331720"/>
            <a:ext cx="2240280" cy="411480"/>
          </a:xfrm>
          <a:prstGeom prst="rect">
            <a:avLst/>
          </a:prstGeom>
          <a:noFill/>
          <a:ln/>
        </p:spPr>
        <p:txBody>
          <a:bodyPr wrap="square" lIns="0" tIns="0" rIns="0" bIns="0" rtlCol="0" anchor="t"/>
          <a:lstStyle/>
          <a:p>
            <a:pPr indent="0" marL="0">
              <a:buNone/>
            </a:pPr>
            <a:r>
              <a:rPr lang="en-US" sz="1200" dirty="0">
                <a:solidFill>
                  <a:schemeClr val="accent5"/>
                </a:solidFill>
              </a:rPr>
              <a:t>Pick from the question bank.</a:t>
            </a:r>
            <a:endParaRPr lang="en-US" sz="1200" dirty="0"/>
          </a:p>
        </p:txBody>
      </p:sp>
      <p:sp>
        <p:nvSpPr>
          <p:cNvPr id="18" name="Assign and grade card"/>
          <p:cNvSpPr/>
          <p:nvPr/>
        </p:nvSpPr>
        <p:spPr>
          <a:xfrm>
            <a:off x="457200" y="2971800"/>
            <a:ext cx="2651760" cy="1554480"/>
          </a:xfrm>
          <a:prstGeom prst="roundRect">
            <a:avLst>
              <a:gd name="adj" fmla="val 5882"/>
            </a:avLst>
          </a:prstGeom>
          <a:solidFill>
            <a:schemeClr val="bg1"/>
          </a:solidFill>
          <a:ln w="12700">
            <a:solidFill>
              <a:srgbClr val="D3DBCD"/>
            </a:solidFill>
            <a:prstDash val="solid"/>
          </a:ln>
        </p:spPr>
      </p:sp>
      <p:sp>
        <p:nvSpPr>
          <p:cNvPr id="19" name="Assign and grade circle"/>
          <p:cNvSpPr/>
          <p:nvPr/>
        </p:nvSpPr>
        <p:spPr>
          <a:xfrm>
            <a:off x="685800" y="3154680"/>
            <a:ext cx="548640" cy="548640"/>
          </a:xfrm>
          <a:prstGeom prst="ellipse">
            <a:avLst/>
          </a:prstGeom>
          <a:solidFill>
            <a:schemeClr val="accent1"/>
          </a:solidFill>
          <a:ln w="12700">
            <a:solidFill>
              <a:schemeClr val="accent1"/>
            </a:solidFill>
            <a:prstDash val="solid"/>
          </a:ln>
        </p:spPr>
      </p:sp>
      <p:pic>
        <p:nvPicPr>
          <p:cNvPr id="20" name="Image 3" descr="Assign and grade">    </p:cNvPr>
          <p:cNvPicPr>
            <a:picLocks noChangeAspect="1"/>
          </p:cNvPicPr>
          <p:nvPr/>
        </p:nvPicPr>
        <p:blipFill>
          <a:blip r:embed="rId4"/>
          <a:stretch>
            <a:fillRect/>
          </a:stretch>
        </p:blipFill>
        <p:spPr>
          <a:xfrm>
            <a:off x="822960" y="3291840"/>
            <a:ext cx="274320" cy="274320"/>
          </a:xfrm>
          <a:prstGeom prst="rect">
            <a:avLst/>
          </a:prstGeom>
        </p:spPr>
      </p:pic>
      <p:sp>
        <p:nvSpPr>
          <p:cNvPr id="21" name="Text 15"/>
          <p:cNvSpPr txBox="1"/>
          <p:nvPr/>
        </p:nvSpPr>
        <p:spPr>
          <a:xfrm>
            <a:off x="685800" y="3794760"/>
            <a:ext cx="2240280" cy="274320"/>
          </a:xfrm>
          <a:prstGeom prst="rect">
            <a:avLst/>
          </a:prstGeom>
          <a:noFill/>
          <a:ln/>
        </p:spPr>
        <p:txBody>
          <a:bodyPr wrap="square" lIns="0" tIns="0" rIns="0" bIns="0" rtlCol="0" anchor="ctr"/>
          <a:lstStyle/>
          <a:p>
            <a:pPr indent="0" marL="0">
              <a:buNone/>
            </a:pPr>
            <a:r>
              <a:rPr lang="en-US" sz="1500" b="1" dirty="0">
                <a:solidFill>
                  <a:schemeClr val="tx1"/>
                </a:solidFill>
              </a:rPr>
              <a:t>Assign and grade</a:t>
            </a:r>
            <a:endParaRPr lang="en-US" sz="1500" dirty="0"/>
          </a:p>
        </p:txBody>
      </p:sp>
      <p:sp>
        <p:nvSpPr>
          <p:cNvPr id="22" name="Text 16"/>
          <p:cNvSpPr txBox="1"/>
          <p:nvPr/>
        </p:nvSpPr>
        <p:spPr>
          <a:xfrm>
            <a:off x="685800" y="4069080"/>
            <a:ext cx="2240280" cy="411480"/>
          </a:xfrm>
          <a:prstGeom prst="rect">
            <a:avLst/>
          </a:prstGeom>
          <a:noFill/>
          <a:ln/>
        </p:spPr>
        <p:txBody>
          <a:bodyPr wrap="square" lIns="0" tIns="0" rIns="0" bIns="0" rtlCol="0" anchor="t"/>
          <a:lstStyle/>
          <a:p>
            <a:pPr indent="0" marL="0">
              <a:buNone/>
            </a:pPr>
            <a:r>
              <a:rPr lang="en-US" sz="1200" dirty="0">
                <a:solidFill>
                  <a:schemeClr val="accent5"/>
                </a:solidFill>
              </a:rPr>
              <a:t>Return work with written feedback.</a:t>
            </a:r>
            <a:endParaRPr lang="en-US" sz="1200" dirty="0"/>
          </a:p>
        </p:txBody>
      </p:sp>
      <p:sp>
        <p:nvSpPr>
          <p:cNvPr id="23" name="AI draft marks card"/>
          <p:cNvSpPr/>
          <p:nvPr/>
        </p:nvSpPr>
        <p:spPr>
          <a:xfrm>
            <a:off x="3246120" y="2971800"/>
            <a:ext cx="2651760" cy="1554480"/>
          </a:xfrm>
          <a:prstGeom prst="roundRect">
            <a:avLst>
              <a:gd name="adj" fmla="val 5882"/>
            </a:avLst>
          </a:prstGeom>
          <a:solidFill>
            <a:schemeClr val="bg1"/>
          </a:solidFill>
          <a:ln w="12700">
            <a:solidFill>
              <a:srgbClr val="D3DBCD"/>
            </a:solidFill>
            <a:prstDash val="solid"/>
          </a:ln>
        </p:spPr>
      </p:sp>
      <p:sp>
        <p:nvSpPr>
          <p:cNvPr id="24" name="AI draft marks circle"/>
          <p:cNvSpPr/>
          <p:nvPr/>
        </p:nvSpPr>
        <p:spPr>
          <a:xfrm>
            <a:off x="3474720" y="3154680"/>
            <a:ext cx="548640" cy="548640"/>
          </a:xfrm>
          <a:prstGeom prst="ellipse">
            <a:avLst/>
          </a:prstGeom>
          <a:solidFill>
            <a:schemeClr val="accent1"/>
          </a:solidFill>
          <a:ln w="12700">
            <a:solidFill>
              <a:schemeClr val="accent1"/>
            </a:solidFill>
            <a:prstDash val="solid"/>
          </a:ln>
        </p:spPr>
      </p:sp>
      <p:pic>
        <p:nvPicPr>
          <p:cNvPr id="25" name="Image 4" descr="AI draft marks">    </p:cNvPr>
          <p:cNvPicPr>
            <a:picLocks noChangeAspect="1"/>
          </p:cNvPicPr>
          <p:nvPr/>
        </p:nvPicPr>
        <p:blipFill>
          <a:blip r:embed="rId5"/>
          <a:stretch>
            <a:fillRect/>
          </a:stretch>
        </p:blipFill>
        <p:spPr>
          <a:xfrm>
            <a:off x="3611880" y="3291840"/>
            <a:ext cx="274320" cy="274320"/>
          </a:xfrm>
          <a:prstGeom prst="rect">
            <a:avLst/>
          </a:prstGeom>
        </p:spPr>
      </p:pic>
      <p:sp>
        <p:nvSpPr>
          <p:cNvPr id="26" name="Text 19"/>
          <p:cNvSpPr txBox="1"/>
          <p:nvPr/>
        </p:nvSpPr>
        <p:spPr>
          <a:xfrm>
            <a:off x="3474720" y="3794760"/>
            <a:ext cx="2240280" cy="274320"/>
          </a:xfrm>
          <a:prstGeom prst="rect">
            <a:avLst/>
          </a:prstGeom>
          <a:noFill/>
          <a:ln/>
        </p:spPr>
        <p:txBody>
          <a:bodyPr wrap="square" lIns="0" tIns="0" rIns="0" bIns="0" rtlCol="0" anchor="ctr"/>
          <a:lstStyle/>
          <a:p>
            <a:pPr indent="0" marL="0">
              <a:buNone/>
            </a:pPr>
            <a:r>
              <a:rPr lang="en-US" sz="1500" b="1" dirty="0">
                <a:solidFill>
                  <a:schemeClr val="tx1"/>
                </a:solidFill>
              </a:rPr>
              <a:t>AI draft marks</a:t>
            </a:r>
            <a:endParaRPr lang="en-US" sz="1500" dirty="0"/>
          </a:p>
        </p:txBody>
      </p:sp>
      <p:sp>
        <p:nvSpPr>
          <p:cNvPr id="27" name="Text 20"/>
          <p:cNvSpPr txBox="1"/>
          <p:nvPr/>
        </p:nvSpPr>
        <p:spPr>
          <a:xfrm>
            <a:off x="3474720" y="4069080"/>
            <a:ext cx="2240280" cy="411480"/>
          </a:xfrm>
          <a:prstGeom prst="rect">
            <a:avLst/>
          </a:prstGeom>
          <a:noFill/>
          <a:ln/>
        </p:spPr>
        <p:txBody>
          <a:bodyPr wrap="square" lIns="0" tIns="0" rIns="0" bIns="0" rtlCol="0" anchor="t"/>
          <a:lstStyle/>
          <a:p>
            <a:pPr indent="0" marL="0">
              <a:buNone/>
            </a:pPr>
            <a:r>
              <a:rPr lang="en-US" sz="1200" dirty="0">
                <a:solidFill>
                  <a:schemeClr val="accent5"/>
                </a:solidFill>
              </a:rPr>
              <a:t>A suggested mark per question; you decide.</a:t>
            </a:r>
            <a:endParaRPr lang="en-US" sz="1200" dirty="0"/>
          </a:p>
        </p:txBody>
      </p:sp>
      <p:sp>
        <p:nvSpPr>
          <p:cNvPr id="28" name="Track progress card"/>
          <p:cNvSpPr/>
          <p:nvPr/>
        </p:nvSpPr>
        <p:spPr>
          <a:xfrm>
            <a:off x="6035040" y="2971800"/>
            <a:ext cx="2651760" cy="1554480"/>
          </a:xfrm>
          <a:prstGeom prst="roundRect">
            <a:avLst>
              <a:gd name="adj" fmla="val 5882"/>
            </a:avLst>
          </a:prstGeom>
          <a:solidFill>
            <a:schemeClr val="bg1"/>
          </a:solidFill>
          <a:ln w="12700">
            <a:solidFill>
              <a:srgbClr val="D3DBCD"/>
            </a:solidFill>
            <a:prstDash val="solid"/>
          </a:ln>
        </p:spPr>
      </p:sp>
      <p:sp>
        <p:nvSpPr>
          <p:cNvPr id="29" name="Track progress circle"/>
          <p:cNvSpPr/>
          <p:nvPr/>
        </p:nvSpPr>
        <p:spPr>
          <a:xfrm>
            <a:off x="6263640" y="3154680"/>
            <a:ext cx="548640" cy="548640"/>
          </a:xfrm>
          <a:prstGeom prst="ellipse">
            <a:avLst/>
          </a:prstGeom>
          <a:solidFill>
            <a:schemeClr val="accent1"/>
          </a:solidFill>
          <a:ln w="12700">
            <a:solidFill>
              <a:schemeClr val="accent1"/>
            </a:solidFill>
            <a:prstDash val="solid"/>
          </a:ln>
        </p:spPr>
      </p:sp>
      <p:pic>
        <p:nvPicPr>
          <p:cNvPr id="30" name="Image 5" descr="Track progress">    </p:cNvPr>
          <p:cNvPicPr>
            <a:picLocks noChangeAspect="1"/>
          </p:cNvPicPr>
          <p:nvPr/>
        </p:nvPicPr>
        <p:blipFill>
          <a:blip r:embed="rId6"/>
          <a:stretch>
            <a:fillRect/>
          </a:stretch>
        </p:blipFill>
        <p:spPr>
          <a:xfrm>
            <a:off x="6400800" y="3291840"/>
            <a:ext cx="274320" cy="274320"/>
          </a:xfrm>
          <a:prstGeom prst="rect">
            <a:avLst/>
          </a:prstGeom>
        </p:spPr>
      </p:pic>
      <p:sp>
        <p:nvSpPr>
          <p:cNvPr id="31" name="Text 23"/>
          <p:cNvSpPr txBox="1"/>
          <p:nvPr/>
        </p:nvSpPr>
        <p:spPr>
          <a:xfrm>
            <a:off x="6263640" y="3794760"/>
            <a:ext cx="2240280" cy="274320"/>
          </a:xfrm>
          <a:prstGeom prst="rect">
            <a:avLst/>
          </a:prstGeom>
          <a:noFill/>
          <a:ln/>
        </p:spPr>
        <p:txBody>
          <a:bodyPr wrap="square" lIns="0" tIns="0" rIns="0" bIns="0" rtlCol="0" anchor="ctr"/>
          <a:lstStyle/>
          <a:p>
            <a:pPr indent="0" marL="0">
              <a:buNone/>
            </a:pPr>
            <a:r>
              <a:rPr lang="en-US" sz="1500" b="1" dirty="0">
                <a:solidFill>
                  <a:schemeClr val="tx1"/>
                </a:solidFill>
              </a:rPr>
              <a:t>Track progress</a:t>
            </a:r>
            <a:endParaRPr lang="en-US" sz="1500" dirty="0"/>
          </a:p>
        </p:txBody>
      </p:sp>
      <p:sp>
        <p:nvSpPr>
          <p:cNvPr id="32" name="Text 24"/>
          <p:cNvSpPr txBox="1"/>
          <p:nvPr/>
        </p:nvSpPr>
        <p:spPr>
          <a:xfrm>
            <a:off x="6263640" y="4069080"/>
            <a:ext cx="2240280" cy="411480"/>
          </a:xfrm>
          <a:prstGeom prst="rect">
            <a:avLst/>
          </a:prstGeom>
          <a:noFill/>
          <a:ln/>
        </p:spPr>
        <p:txBody>
          <a:bodyPr wrap="square" lIns="0" tIns="0" rIns="0" bIns="0" rtlCol="0" anchor="t"/>
          <a:lstStyle/>
          <a:p>
            <a:pPr indent="0" marL="0">
              <a:buNone/>
            </a:pPr>
            <a:r>
              <a:rPr lang="en-US" sz="1200" dirty="0">
                <a:solidFill>
                  <a:schemeClr val="accent5"/>
                </a:solidFill>
              </a:rPr>
              <a:t>See results for each student.</a:t>
            </a:r>
            <a:endParaRPr lang="en-US" sz="12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rPr>
              <a:t>For teachers: tools for the classroom (9–12)</a:t>
            </a:r>
            <a:endParaRPr lang="en-US" sz="3000" dirty="0"/>
          </a:p>
        </p:txBody>
      </p:sp>
      <p:sp>
        <p:nvSpPr>
          <p:cNvPr id="3" name="Graphing calculator card"/>
          <p:cNvSpPr/>
          <p:nvPr/>
        </p:nvSpPr>
        <p:spPr>
          <a:xfrm>
            <a:off x="457200" y="1280160"/>
            <a:ext cx="2651760" cy="3017520"/>
          </a:xfrm>
          <a:prstGeom prst="roundRect">
            <a:avLst>
              <a:gd name="adj" fmla="val 3448"/>
            </a:avLst>
          </a:prstGeom>
          <a:solidFill>
            <a:schemeClr val="accent4"/>
          </a:solidFill>
          <a:ln w="12700">
            <a:solidFill>
              <a:srgbClr val="1F4B38"/>
            </a:solidFill>
            <a:prstDash val="solid"/>
          </a:ln>
        </p:spPr>
      </p:sp>
      <p:sp>
        <p:nvSpPr>
          <p:cNvPr id="4" name="Graphing calculator circle"/>
          <p:cNvSpPr/>
          <p:nvPr/>
        </p:nvSpPr>
        <p:spPr>
          <a:xfrm>
            <a:off x="685800" y="1508760"/>
            <a:ext cx="640080" cy="640080"/>
          </a:xfrm>
          <a:prstGeom prst="ellipse">
            <a:avLst/>
          </a:prstGeom>
          <a:solidFill>
            <a:schemeClr val="accent2"/>
          </a:solidFill>
          <a:ln w="12700">
            <a:solidFill>
              <a:schemeClr val="accent2"/>
            </a:solidFill>
            <a:prstDash val="solid"/>
          </a:ln>
        </p:spPr>
      </p:sp>
      <p:pic>
        <p:nvPicPr>
          <p:cNvPr id="5" name="Image 0" descr="Graphing calculator">    </p:cNvPr>
          <p:cNvPicPr>
            <a:picLocks noChangeAspect="1"/>
          </p:cNvPicPr>
          <p:nvPr/>
        </p:nvPicPr>
        <p:blipFill>
          <a:blip r:embed="rId1"/>
          <a:stretch>
            <a:fillRect/>
          </a:stretch>
        </p:blipFill>
        <p:spPr>
          <a:xfrm>
            <a:off x="845820" y="1668780"/>
            <a:ext cx="320040" cy="320040"/>
          </a:xfrm>
          <a:prstGeom prst="rect">
            <a:avLst/>
          </a:prstGeom>
        </p:spPr>
      </p:pic>
      <p:sp>
        <p:nvSpPr>
          <p:cNvPr id="6" name="Text 3"/>
          <p:cNvSpPr txBox="1"/>
          <p:nvPr/>
        </p:nvSpPr>
        <p:spPr>
          <a:xfrm>
            <a:off x="685800" y="2331720"/>
            <a:ext cx="2240280" cy="320040"/>
          </a:xfrm>
          <a:prstGeom prst="rect">
            <a:avLst/>
          </a:prstGeom>
          <a:noFill/>
          <a:ln/>
        </p:spPr>
        <p:txBody>
          <a:bodyPr wrap="square" lIns="0" tIns="0" rIns="0" bIns="0" rtlCol="0" anchor="ctr"/>
          <a:lstStyle/>
          <a:p>
            <a:pPr indent="0" marL="0">
              <a:buNone/>
            </a:pPr>
            <a:r>
              <a:rPr lang="en-US" sz="1800" b="1" dirty="0">
                <a:solidFill>
                  <a:schemeClr val="accent2"/>
                </a:solidFill>
              </a:rPr>
              <a:t>Graphing calculator</a:t>
            </a:r>
            <a:endParaRPr lang="en-US" sz="1800" dirty="0"/>
          </a:p>
        </p:txBody>
      </p:sp>
      <p:sp>
        <p:nvSpPr>
          <p:cNvPr id="7" name="Text 4"/>
          <p:cNvSpPr txBox="1"/>
          <p:nvPr/>
        </p:nvSpPr>
        <p:spPr>
          <a:xfrm>
            <a:off x="685800" y="2743200"/>
            <a:ext cx="2240280" cy="1463040"/>
          </a:xfrm>
          <a:prstGeom prst="rect">
            <a:avLst/>
          </a:prstGeom>
          <a:noFill/>
          <a:ln/>
        </p:spPr>
        <p:txBody>
          <a:bodyPr wrap="square" lIns="0" tIns="0" rIns="0" bIns="0" rtlCol="0" anchor="t"/>
          <a:lstStyle/>
          <a:p>
            <a:pPr indent="0" marL="0">
              <a:buNone/>
            </a:pPr>
            <a:r>
              <a:rPr lang="en-US" sz="1400" dirty="0">
                <a:solidFill>
                  <a:schemeClr val="bg1"/>
                </a:solidFill>
              </a:rPr>
              <a:t>Plot and compare functions in the browser. Nothing to install.</a:t>
            </a:r>
            <a:endParaRPr lang="en-US" sz="1400" dirty="0"/>
          </a:p>
        </p:txBody>
      </p:sp>
      <p:sp>
        <p:nvSpPr>
          <p:cNvPr id="8" name="Live whiteboard card"/>
          <p:cNvSpPr/>
          <p:nvPr/>
        </p:nvSpPr>
        <p:spPr>
          <a:xfrm>
            <a:off x="3246120" y="1280160"/>
            <a:ext cx="2651760" cy="3017520"/>
          </a:xfrm>
          <a:prstGeom prst="roundRect">
            <a:avLst>
              <a:gd name="adj" fmla="val 3448"/>
            </a:avLst>
          </a:prstGeom>
          <a:solidFill>
            <a:schemeClr val="accent4"/>
          </a:solidFill>
          <a:ln w="12700">
            <a:solidFill>
              <a:srgbClr val="1F4B38"/>
            </a:solidFill>
            <a:prstDash val="solid"/>
          </a:ln>
        </p:spPr>
      </p:sp>
      <p:sp>
        <p:nvSpPr>
          <p:cNvPr id="9" name="Live whiteboard circle"/>
          <p:cNvSpPr/>
          <p:nvPr/>
        </p:nvSpPr>
        <p:spPr>
          <a:xfrm>
            <a:off x="3474720" y="1508760"/>
            <a:ext cx="640080" cy="640080"/>
          </a:xfrm>
          <a:prstGeom prst="ellipse">
            <a:avLst/>
          </a:prstGeom>
          <a:solidFill>
            <a:schemeClr val="accent2"/>
          </a:solidFill>
          <a:ln w="12700">
            <a:solidFill>
              <a:schemeClr val="accent2"/>
            </a:solidFill>
            <a:prstDash val="solid"/>
          </a:ln>
        </p:spPr>
      </p:sp>
      <p:pic>
        <p:nvPicPr>
          <p:cNvPr id="10" name="Image 1" descr="Live whiteboard">    </p:cNvPr>
          <p:cNvPicPr>
            <a:picLocks noChangeAspect="1"/>
          </p:cNvPicPr>
          <p:nvPr/>
        </p:nvPicPr>
        <p:blipFill>
          <a:blip r:embed="rId2"/>
          <a:stretch>
            <a:fillRect/>
          </a:stretch>
        </p:blipFill>
        <p:spPr>
          <a:xfrm>
            <a:off x="3634740" y="1668780"/>
            <a:ext cx="320040" cy="320040"/>
          </a:xfrm>
          <a:prstGeom prst="rect">
            <a:avLst/>
          </a:prstGeom>
        </p:spPr>
      </p:pic>
      <p:sp>
        <p:nvSpPr>
          <p:cNvPr id="11" name="Text 7"/>
          <p:cNvSpPr txBox="1"/>
          <p:nvPr/>
        </p:nvSpPr>
        <p:spPr>
          <a:xfrm>
            <a:off x="3474720" y="2331720"/>
            <a:ext cx="2240280" cy="320040"/>
          </a:xfrm>
          <a:prstGeom prst="rect">
            <a:avLst/>
          </a:prstGeom>
          <a:noFill/>
          <a:ln/>
        </p:spPr>
        <p:txBody>
          <a:bodyPr wrap="square" lIns="0" tIns="0" rIns="0" bIns="0" rtlCol="0" anchor="ctr"/>
          <a:lstStyle/>
          <a:p>
            <a:pPr indent="0" marL="0">
              <a:buNone/>
            </a:pPr>
            <a:r>
              <a:rPr lang="en-US" sz="1800" b="1" dirty="0">
                <a:solidFill>
                  <a:schemeClr val="accent2"/>
                </a:solidFill>
              </a:rPr>
              <a:t>Live whiteboard</a:t>
            </a:r>
            <a:endParaRPr lang="en-US" sz="1800" dirty="0"/>
          </a:p>
        </p:txBody>
      </p:sp>
      <p:sp>
        <p:nvSpPr>
          <p:cNvPr id="12" name="Text 8"/>
          <p:cNvSpPr txBox="1"/>
          <p:nvPr/>
        </p:nvSpPr>
        <p:spPr>
          <a:xfrm>
            <a:off x="3474720" y="2743200"/>
            <a:ext cx="2240280" cy="1463040"/>
          </a:xfrm>
          <a:prstGeom prst="rect">
            <a:avLst/>
          </a:prstGeom>
          <a:noFill/>
          <a:ln/>
        </p:spPr>
        <p:txBody>
          <a:bodyPr wrap="square" lIns="0" tIns="0" rIns="0" bIns="0" rtlCol="0" anchor="t"/>
          <a:lstStyle/>
          <a:p>
            <a:pPr indent="0" marL="0">
              <a:buNone/>
            </a:pPr>
            <a:r>
              <a:rPr lang="en-US" sz="1400" dirty="0">
                <a:solidFill>
                  <a:schemeClr val="bg1"/>
                </a:solidFill>
              </a:rPr>
              <a:t>Draw, type math and add graphs. Share a read-only link students follow live, then export to PDF.</a:t>
            </a:r>
            <a:endParaRPr lang="en-US" sz="1400" dirty="0"/>
          </a:p>
        </p:txBody>
      </p:sp>
      <p:sp>
        <p:nvSpPr>
          <p:cNvPr id="13" name="Present mode card"/>
          <p:cNvSpPr/>
          <p:nvPr/>
        </p:nvSpPr>
        <p:spPr>
          <a:xfrm>
            <a:off x="6035040" y="1280160"/>
            <a:ext cx="2651760" cy="3017520"/>
          </a:xfrm>
          <a:prstGeom prst="roundRect">
            <a:avLst>
              <a:gd name="adj" fmla="val 3448"/>
            </a:avLst>
          </a:prstGeom>
          <a:solidFill>
            <a:schemeClr val="accent4"/>
          </a:solidFill>
          <a:ln w="12700">
            <a:solidFill>
              <a:srgbClr val="1F4B38"/>
            </a:solidFill>
            <a:prstDash val="solid"/>
          </a:ln>
        </p:spPr>
      </p:sp>
      <p:sp>
        <p:nvSpPr>
          <p:cNvPr id="14" name="Present mode circle"/>
          <p:cNvSpPr/>
          <p:nvPr/>
        </p:nvSpPr>
        <p:spPr>
          <a:xfrm>
            <a:off x="6263640" y="1508760"/>
            <a:ext cx="640080" cy="640080"/>
          </a:xfrm>
          <a:prstGeom prst="ellipse">
            <a:avLst/>
          </a:prstGeom>
          <a:solidFill>
            <a:schemeClr val="accent2"/>
          </a:solidFill>
          <a:ln w="12700">
            <a:solidFill>
              <a:schemeClr val="accent2"/>
            </a:solidFill>
            <a:prstDash val="solid"/>
          </a:ln>
        </p:spPr>
      </p:sp>
      <p:pic>
        <p:nvPicPr>
          <p:cNvPr id="15" name="Image 2" descr="Present mode">    </p:cNvPr>
          <p:cNvPicPr>
            <a:picLocks noChangeAspect="1"/>
          </p:cNvPicPr>
          <p:nvPr/>
        </p:nvPicPr>
        <p:blipFill>
          <a:blip r:embed="rId3"/>
          <a:stretch>
            <a:fillRect/>
          </a:stretch>
        </p:blipFill>
        <p:spPr>
          <a:xfrm>
            <a:off x="6423660" y="1668780"/>
            <a:ext cx="320040" cy="320040"/>
          </a:xfrm>
          <a:prstGeom prst="rect">
            <a:avLst/>
          </a:prstGeom>
        </p:spPr>
      </p:pic>
      <p:sp>
        <p:nvSpPr>
          <p:cNvPr id="16" name="Text 11"/>
          <p:cNvSpPr txBox="1"/>
          <p:nvPr/>
        </p:nvSpPr>
        <p:spPr>
          <a:xfrm>
            <a:off x="6263640" y="2331720"/>
            <a:ext cx="2240280" cy="320040"/>
          </a:xfrm>
          <a:prstGeom prst="rect">
            <a:avLst/>
          </a:prstGeom>
          <a:noFill/>
          <a:ln/>
        </p:spPr>
        <p:txBody>
          <a:bodyPr wrap="square" lIns="0" tIns="0" rIns="0" bIns="0" rtlCol="0" anchor="ctr"/>
          <a:lstStyle/>
          <a:p>
            <a:pPr indent="0" marL="0">
              <a:buNone/>
            </a:pPr>
            <a:r>
              <a:rPr lang="en-US" sz="1800" b="1" dirty="0">
                <a:solidFill>
                  <a:schemeClr val="accent2"/>
                </a:solidFill>
              </a:rPr>
              <a:t>Present mode</a:t>
            </a:r>
            <a:endParaRPr lang="en-US" sz="1800" dirty="0"/>
          </a:p>
        </p:txBody>
      </p:sp>
      <p:sp>
        <p:nvSpPr>
          <p:cNvPr id="17" name="Text 12"/>
          <p:cNvSpPr txBox="1"/>
          <p:nvPr/>
        </p:nvSpPr>
        <p:spPr>
          <a:xfrm>
            <a:off x="6263640" y="2743200"/>
            <a:ext cx="2240280" cy="1463040"/>
          </a:xfrm>
          <a:prstGeom prst="rect">
            <a:avLst/>
          </a:prstGeom>
          <a:noFill/>
          <a:ln/>
        </p:spPr>
        <p:txBody>
          <a:bodyPr wrap="square" lIns="0" tIns="0" rIns="0" bIns="0" rtlCol="0" anchor="t"/>
          <a:lstStyle/>
          <a:p>
            <a:pPr indent="0" marL="0">
              <a:buNone/>
            </a:pPr>
            <a:r>
              <a:rPr lang="en-US" sz="1400" dirty="0">
                <a:solidFill>
                  <a:schemeClr val="bg1"/>
                </a:solidFill>
              </a:rPr>
              <a:t>Turn any lesson into a narrated slideshow, with the same examples and graphs.</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7D4C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How it makes your work easier</a:t>
            </a:r>
            <a:endParaRPr lang="en-US" sz="30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1097280"/>
                <a:gridCol w="4206240"/>
                <a:gridCol w="292608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Your task</a:t>
                      </a:r>
                      <a:endParaRPr lang="en-US" sz="14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1780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What the sites do</a:t>
                      </a:r>
                      <a:endParaRPr lang="en-US" sz="14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1780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You no longer have to…</a:t>
                      </a:r>
                      <a:endParaRPr lang="en-US" sz="14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9A5B00"/>
                    </a:solidFill>
                  </a:tcPr>
                </a:tc>
              </a:tr>
              <a:tr h="0">
                <a:tc>
                  <a:txBody>
                    <a:bodyPr/>
                    <a:lstStyle/>
                    <a:p>
                      <a:pPr indent="0" marL="0">
                        <a:buNone/>
                      </a:pPr>
                      <a:r>
                        <a:rPr lang="en-US" sz="1300" b="1" dirty="0">
                          <a:solidFill>
                            <a:srgbClr val="0F2A1D"/>
                          </a:solidFill>
                          <a:latin typeface="Calibri" pitchFamily="34" charset="0"/>
                          <a:ea typeface="Calibri" pitchFamily="34" charset="-122"/>
                          <a:cs typeface="Calibri" pitchFamily="34" charset="-120"/>
                        </a:rPr>
                        <a:t>Plan</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300" dirty="0">
                          <a:solidFill>
                            <a:srgbClr val="0F2A1D"/>
                          </a:solidFill>
                          <a:latin typeface="Calibri" pitchFamily="34" charset="0"/>
                          <a:ea typeface="Calibri" pitchFamily="34" charset="-122"/>
                          <a:cs typeface="Calibri" pitchFamily="34" charset="-120"/>
                        </a:rPr>
                        <a:t>Ready-made lessons: video, slides and worksheet (K‑8); live-graph lessons (9‑12)</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300" dirty="0">
                          <a:solidFill>
                            <a:srgbClr val="0F2A1D"/>
                          </a:solidFill>
                          <a:latin typeface="Calibri" pitchFamily="34" charset="0"/>
                          <a:ea typeface="Calibri" pitchFamily="34" charset="-122"/>
                          <a:cs typeface="Calibri" pitchFamily="34" charset="-120"/>
                        </a:rPr>
                        <a:t>Build slides and examples from scratch</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F2A1D"/>
                          </a:solidFill>
                          <a:latin typeface="Calibri" pitchFamily="34" charset="0"/>
                          <a:ea typeface="Calibri" pitchFamily="34" charset="-122"/>
                          <a:cs typeface="Calibri" pitchFamily="34" charset="-120"/>
                        </a:rPr>
                        <a:t>Practise</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300" dirty="0">
                          <a:solidFill>
                            <a:srgbClr val="0F2A1D"/>
                          </a:solidFill>
                          <a:latin typeface="Calibri" pitchFamily="34" charset="0"/>
                          <a:ea typeface="Calibri" pitchFamily="34" charset="-122"/>
                          <a:cs typeface="Calibri" pitchFamily="34" charset="-120"/>
                        </a:rPr>
                        <a:t>Games at three levels (K‑8); a bank of about 60 questions per topic (9‑12)</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300" dirty="0">
                          <a:solidFill>
                            <a:srgbClr val="0F2A1D"/>
                          </a:solidFill>
                          <a:latin typeface="Calibri" pitchFamily="34" charset="0"/>
                          <a:ea typeface="Calibri" pitchFamily="34" charset="-122"/>
                          <a:cs typeface="Calibri" pitchFamily="34" charset="-120"/>
                        </a:rPr>
                        <a:t>Hunt for practice at the right level</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F2A1D"/>
                          </a:solidFill>
                          <a:latin typeface="Calibri" pitchFamily="34" charset="0"/>
                          <a:ea typeface="Calibri" pitchFamily="34" charset="-122"/>
                          <a:cs typeface="Calibri" pitchFamily="34" charset="-120"/>
                        </a:rPr>
                        <a:t>Mark</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300" dirty="0">
                          <a:solidFill>
                            <a:srgbClr val="0F2A1D"/>
                          </a:solidFill>
                          <a:latin typeface="Calibri" pitchFamily="34" charset="0"/>
                          <a:ea typeface="Calibri" pitchFamily="34" charset="-122"/>
                          <a:cs typeface="Calibri" pitchFamily="34" charset="-120"/>
                        </a:rPr>
                        <a:t>Worksheets and quizzes mark themselves; AI drafts marks for written work (9‑12)</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300" dirty="0">
                          <a:solidFill>
                            <a:srgbClr val="0F2A1D"/>
                          </a:solidFill>
                          <a:latin typeface="Calibri" pitchFamily="34" charset="0"/>
                          <a:ea typeface="Calibri" pitchFamily="34" charset="-122"/>
                          <a:cs typeface="Calibri" pitchFamily="34" charset="-120"/>
                        </a:rPr>
                        <a:t>Mark every sheet by hand</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F2A1D"/>
                          </a:solidFill>
                          <a:latin typeface="Calibri" pitchFamily="34" charset="0"/>
                          <a:ea typeface="Calibri" pitchFamily="34" charset="-122"/>
                          <a:cs typeface="Calibri" pitchFamily="34" charset="-120"/>
                        </a:rPr>
                        <a:t>Track</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300" dirty="0">
                          <a:solidFill>
                            <a:srgbClr val="0F2A1D"/>
                          </a:solidFill>
                          <a:latin typeface="Calibri" pitchFamily="34" charset="0"/>
                          <a:ea typeface="Calibri" pitchFamily="34" charset="-122"/>
                          <a:cs typeface="Calibri" pitchFamily="34" charset="-120"/>
                        </a:rPr>
                        <a:t>Progress by student and topic, with a Levels 1–4 grade (K‑8)</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300" dirty="0">
                          <a:solidFill>
                            <a:srgbClr val="0F2A1D"/>
                          </a:solidFill>
                          <a:latin typeface="Calibri" pitchFamily="34" charset="0"/>
                          <a:ea typeface="Calibri" pitchFamily="34" charset="-122"/>
                          <a:cs typeface="Calibri" pitchFamily="34" charset="-120"/>
                        </a:rPr>
                        <a:t>Keep your own tracking sheets</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r>
              <a:tr h="0">
                <a:tc>
                  <a:txBody>
                    <a:bodyPr/>
                    <a:lstStyle/>
                    <a:p>
                      <a:pPr indent="0" marL="0">
                        <a:buNone/>
                      </a:pPr>
                      <a:r>
                        <a:rPr lang="en-US" sz="1300" b="1" dirty="0">
                          <a:solidFill>
                            <a:srgbClr val="0F2A1D"/>
                          </a:solidFill>
                          <a:latin typeface="Calibri" pitchFamily="34" charset="0"/>
                          <a:ea typeface="Calibri" pitchFamily="34" charset="-122"/>
                          <a:cs typeface="Calibri" pitchFamily="34" charset="-120"/>
                        </a:rPr>
                        <a:t>Report</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300" dirty="0">
                          <a:solidFill>
                            <a:srgbClr val="0F2A1D"/>
                          </a:solidFill>
                          <a:latin typeface="Calibri" pitchFamily="34" charset="0"/>
                          <a:ea typeface="Calibri" pitchFamily="34" charset="-122"/>
                          <a:cs typeface="Calibri" pitchFamily="34" charset="-120"/>
                        </a:rPr>
                        <a:t>Printable reports and weekly parent emails (K‑8)</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300" dirty="0">
                          <a:solidFill>
                            <a:srgbClr val="0F2A1D"/>
                          </a:solidFill>
                          <a:latin typeface="Calibri" pitchFamily="34" charset="0"/>
                          <a:ea typeface="Calibri" pitchFamily="34" charset="-122"/>
                          <a:cs typeface="Calibri" pitchFamily="34" charset="-120"/>
                        </a:rPr>
                        <a:t>Write each parent update yourself</a:t>
                      </a:r>
                      <a:endParaRPr lang="en-US" sz="1300" dirty="0">
                        <a:latin typeface="Calibri" charset="0"/>
                        <a:ea typeface="Calibri" charset="0"/>
                        <a:cs typeface="Calibri" charset="0"/>
                      </a:endParaRPr>
                    </a:p>
                  </a:txBody>
                  <a:tcPr marL="91440" marR="91440" marT="54864" marB="54864"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rPr>
              <a:t>A unit in practice, on either site</a:t>
            </a:r>
            <a:endParaRPr lang="en-US" sz="3000" dirty="0"/>
          </a:p>
        </p:txBody>
      </p:sp>
      <p:sp>
        <p:nvSpPr>
          <p:cNvPr id="3" name="Join step"/>
          <p:cNvSpPr/>
          <p:nvPr/>
        </p:nvSpPr>
        <p:spPr>
          <a:xfrm>
            <a:off x="457200" y="1371600"/>
            <a:ext cx="1554480" cy="2651760"/>
          </a:xfrm>
          <a:prstGeom prst="roundRect">
            <a:avLst>
              <a:gd name="adj" fmla="val 5882"/>
            </a:avLst>
          </a:prstGeom>
          <a:solidFill>
            <a:schemeClr val="accent4"/>
          </a:solidFill>
          <a:ln w="12700">
            <a:solidFill>
              <a:srgbClr val="1F4B38"/>
            </a:solidFill>
            <a:prstDash val="solid"/>
          </a:ln>
        </p:spPr>
      </p:sp>
      <p:sp>
        <p:nvSpPr>
          <p:cNvPr id="4" name="Join circle"/>
          <p:cNvSpPr/>
          <p:nvPr/>
        </p:nvSpPr>
        <p:spPr>
          <a:xfrm>
            <a:off x="868680" y="1600200"/>
            <a:ext cx="731520" cy="731520"/>
          </a:xfrm>
          <a:prstGeom prst="ellipse">
            <a:avLst/>
          </a:prstGeom>
          <a:solidFill>
            <a:schemeClr val="accent2"/>
          </a:solidFill>
          <a:ln w="12700">
            <a:solidFill>
              <a:schemeClr val="accent2"/>
            </a:solidFill>
            <a:prstDash val="solid"/>
          </a:ln>
        </p:spPr>
      </p:sp>
      <p:pic>
        <p:nvPicPr>
          <p:cNvPr id="5" name="Image 0" descr="Join">    </p:cNvPr>
          <p:cNvPicPr>
            <a:picLocks noChangeAspect="1"/>
          </p:cNvPicPr>
          <p:nvPr/>
        </p:nvPicPr>
        <p:blipFill>
          <a:blip r:embed="rId1"/>
          <a:stretch>
            <a:fillRect/>
          </a:stretch>
        </p:blipFill>
        <p:spPr>
          <a:xfrm>
            <a:off x="1051560" y="1783080"/>
            <a:ext cx="365760" cy="365760"/>
          </a:xfrm>
          <a:prstGeom prst="rect">
            <a:avLst/>
          </a:prstGeom>
        </p:spPr>
      </p:pic>
      <p:sp>
        <p:nvSpPr>
          <p:cNvPr id="6" name="Text 3"/>
          <p:cNvSpPr txBox="1"/>
          <p:nvPr/>
        </p:nvSpPr>
        <p:spPr>
          <a:xfrm>
            <a:off x="548640" y="2514600"/>
            <a:ext cx="1371600" cy="320040"/>
          </a:xfrm>
          <a:prstGeom prst="rect">
            <a:avLst/>
          </a:prstGeom>
          <a:noFill/>
          <a:ln/>
        </p:spPr>
        <p:txBody>
          <a:bodyPr wrap="square" lIns="0" tIns="0" rIns="0" bIns="0" rtlCol="0" anchor="ctr"/>
          <a:lstStyle/>
          <a:p>
            <a:pPr algn="ctr" indent="0" marL="0">
              <a:buNone/>
            </a:pPr>
            <a:r>
              <a:rPr lang="en-US" sz="1800" b="1" dirty="0">
                <a:solidFill>
                  <a:schemeClr val="accent2"/>
                </a:solidFill>
              </a:rPr>
              <a:t>Join</a:t>
            </a:r>
            <a:endParaRPr lang="en-US" sz="1800" dirty="0"/>
          </a:p>
        </p:txBody>
      </p:sp>
      <p:sp>
        <p:nvSpPr>
          <p:cNvPr id="7" name="Text 4"/>
          <p:cNvSpPr txBox="1"/>
          <p:nvPr/>
        </p:nvSpPr>
        <p:spPr>
          <a:xfrm>
            <a:off x="566928" y="2880360"/>
            <a:ext cx="1335024" cy="1051560"/>
          </a:xfrm>
          <a:prstGeom prst="rect">
            <a:avLst/>
          </a:prstGeom>
          <a:noFill/>
          <a:ln/>
        </p:spPr>
        <p:txBody>
          <a:bodyPr wrap="square" lIns="0" tIns="0" rIns="0" bIns="0" rtlCol="0" anchor="t"/>
          <a:lstStyle/>
          <a:p>
            <a:pPr algn="ctr" indent="0" marL="0">
              <a:buNone/>
            </a:pPr>
            <a:r>
              <a:rPr lang="en-US" sz="1400" dirty="0">
                <a:solidFill>
                  <a:schemeClr val="bg1"/>
                </a:solidFill>
              </a:rPr>
              <a:t>Students enter your class code.</a:t>
            </a:r>
            <a:endParaRPr lang="en-US" sz="1400" dirty="0"/>
          </a:p>
        </p:txBody>
      </p:sp>
      <p:sp>
        <p:nvSpPr>
          <p:cNvPr id="8" name="Learn step"/>
          <p:cNvSpPr/>
          <p:nvPr/>
        </p:nvSpPr>
        <p:spPr>
          <a:xfrm>
            <a:off x="2121408" y="1371600"/>
            <a:ext cx="1554480" cy="2651760"/>
          </a:xfrm>
          <a:prstGeom prst="roundRect">
            <a:avLst>
              <a:gd name="adj" fmla="val 5882"/>
            </a:avLst>
          </a:prstGeom>
          <a:solidFill>
            <a:schemeClr val="accent4"/>
          </a:solidFill>
          <a:ln w="12700">
            <a:solidFill>
              <a:srgbClr val="1F4B38"/>
            </a:solidFill>
            <a:prstDash val="solid"/>
          </a:ln>
        </p:spPr>
      </p:sp>
      <p:sp>
        <p:nvSpPr>
          <p:cNvPr id="9" name="Learn circle"/>
          <p:cNvSpPr/>
          <p:nvPr/>
        </p:nvSpPr>
        <p:spPr>
          <a:xfrm>
            <a:off x="2532888" y="1600200"/>
            <a:ext cx="731520" cy="731520"/>
          </a:xfrm>
          <a:prstGeom prst="ellipse">
            <a:avLst/>
          </a:prstGeom>
          <a:solidFill>
            <a:schemeClr val="accent2"/>
          </a:solidFill>
          <a:ln w="12700">
            <a:solidFill>
              <a:schemeClr val="accent2"/>
            </a:solidFill>
            <a:prstDash val="solid"/>
          </a:ln>
        </p:spPr>
      </p:sp>
      <p:pic>
        <p:nvPicPr>
          <p:cNvPr id="10" name="Image 1" descr="Learn">    </p:cNvPr>
          <p:cNvPicPr>
            <a:picLocks noChangeAspect="1"/>
          </p:cNvPicPr>
          <p:nvPr/>
        </p:nvPicPr>
        <p:blipFill>
          <a:blip r:embed="rId2"/>
          <a:stretch>
            <a:fillRect/>
          </a:stretch>
        </p:blipFill>
        <p:spPr>
          <a:xfrm>
            <a:off x="2715768" y="1783080"/>
            <a:ext cx="365760" cy="365760"/>
          </a:xfrm>
          <a:prstGeom prst="rect">
            <a:avLst/>
          </a:prstGeom>
        </p:spPr>
      </p:pic>
      <p:sp>
        <p:nvSpPr>
          <p:cNvPr id="11" name="Text 7"/>
          <p:cNvSpPr txBox="1"/>
          <p:nvPr/>
        </p:nvSpPr>
        <p:spPr>
          <a:xfrm>
            <a:off x="2212848" y="2514600"/>
            <a:ext cx="1371600" cy="320040"/>
          </a:xfrm>
          <a:prstGeom prst="rect">
            <a:avLst/>
          </a:prstGeom>
          <a:noFill/>
          <a:ln/>
        </p:spPr>
        <p:txBody>
          <a:bodyPr wrap="square" lIns="0" tIns="0" rIns="0" bIns="0" rtlCol="0" anchor="ctr"/>
          <a:lstStyle/>
          <a:p>
            <a:pPr algn="ctr" indent="0" marL="0">
              <a:buNone/>
            </a:pPr>
            <a:r>
              <a:rPr lang="en-US" sz="1800" b="1" dirty="0">
                <a:solidFill>
                  <a:schemeClr val="accent2"/>
                </a:solidFill>
              </a:rPr>
              <a:t>Learn</a:t>
            </a:r>
            <a:endParaRPr lang="en-US" sz="1800" dirty="0"/>
          </a:p>
        </p:txBody>
      </p:sp>
      <p:sp>
        <p:nvSpPr>
          <p:cNvPr id="12" name="Text 8"/>
          <p:cNvSpPr txBox="1"/>
          <p:nvPr/>
        </p:nvSpPr>
        <p:spPr>
          <a:xfrm>
            <a:off x="2231136" y="2880360"/>
            <a:ext cx="1335024" cy="1051560"/>
          </a:xfrm>
          <a:prstGeom prst="rect">
            <a:avLst/>
          </a:prstGeom>
          <a:noFill/>
          <a:ln/>
        </p:spPr>
        <p:txBody>
          <a:bodyPr wrap="square" lIns="0" tIns="0" rIns="0" bIns="0" rtlCol="0" anchor="t"/>
          <a:lstStyle/>
          <a:p>
            <a:pPr algn="ctr" indent="0" marL="0">
              <a:buNone/>
            </a:pPr>
            <a:r>
              <a:rPr lang="en-US" sz="1400" dirty="0">
                <a:solidFill>
                  <a:schemeClr val="bg1"/>
                </a:solidFill>
              </a:rPr>
              <a:t>Teach the lesson or slides.</a:t>
            </a:r>
            <a:endParaRPr lang="en-US" sz="1400" dirty="0"/>
          </a:p>
        </p:txBody>
      </p:sp>
      <p:sp>
        <p:nvSpPr>
          <p:cNvPr id="13" name="Practise step"/>
          <p:cNvSpPr/>
          <p:nvPr/>
        </p:nvSpPr>
        <p:spPr>
          <a:xfrm>
            <a:off x="3785616" y="1371600"/>
            <a:ext cx="1554480" cy="2651760"/>
          </a:xfrm>
          <a:prstGeom prst="roundRect">
            <a:avLst>
              <a:gd name="adj" fmla="val 5882"/>
            </a:avLst>
          </a:prstGeom>
          <a:solidFill>
            <a:schemeClr val="accent4"/>
          </a:solidFill>
          <a:ln w="12700">
            <a:solidFill>
              <a:srgbClr val="1F4B38"/>
            </a:solidFill>
            <a:prstDash val="solid"/>
          </a:ln>
        </p:spPr>
      </p:sp>
      <p:sp>
        <p:nvSpPr>
          <p:cNvPr id="14" name="Practise circle"/>
          <p:cNvSpPr/>
          <p:nvPr/>
        </p:nvSpPr>
        <p:spPr>
          <a:xfrm>
            <a:off x="4197096" y="1600200"/>
            <a:ext cx="731520" cy="731520"/>
          </a:xfrm>
          <a:prstGeom prst="ellipse">
            <a:avLst/>
          </a:prstGeom>
          <a:solidFill>
            <a:schemeClr val="accent2"/>
          </a:solidFill>
          <a:ln w="12700">
            <a:solidFill>
              <a:schemeClr val="accent2"/>
            </a:solidFill>
            <a:prstDash val="solid"/>
          </a:ln>
        </p:spPr>
      </p:sp>
      <p:pic>
        <p:nvPicPr>
          <p:cNvPr id="15" name="Image 2" descr="Practise">    </p:cNvPr>
          <p:cNvPicPr>
            <a:picLocks noChangeAspect="1"/>
          </p:cNvPicPr>
          <p:nvPr/>
        </p:nvPicPr>
        <p:blipFill>
          <a:blip r:embed="rId3"/>
          <a:stretch>
            <a:fillRect/>
          </a:stretch>
        </p:blipFill>
        <p:spPr>
          <a:xfrm>
            <a:off x="4379976" y="1783080"/>
            <a:ext cx="365760" cy="365760"/>
          </a:xfrm>
          <a:prstGeom prst="rect">
            <a:avLst/>
          </a:prstGeom>
        </p:spPr>
      </p:pic>
      <p:sp>
        <p:nvSpPr>
          <p:cNvPr id="16" name="Text 11"/>
          <p:cNvSpPr txBox="1"/>
          <p:nvPr/>
        </p:nvSpPr>
        <p:spPr>
          <a:xfrm>
            <a:off x="3877056" y="2514600"/>
            <a:ext cx="1371600" cy="320040"/>
          </a:xfrm>
          <a:prstGeom prst="rect">
            <a:avLst/>
          </a:prstGeom>
          <a:noFill/>
          <a:ln/>
        </p:spPr>
        <p:txBody>
          <a:bodyPr wrap="square" lIns="0" tIns="0" rIns="0" bIns="0" rtlCol="0" anchor="ctr"/>
          <a:lstStyle/>
          <a:p>
            <a:pPr algn="ctr" indent="0" marL="0">
              <a:buNone/>
            </a:pPr>
            <a:r>
              <a:rPr lang="en-US" sz="1800" b="1" dirty="0">
                <a:solidFill>
                  <a:schemeClr val="accent2"/>
                </a:solidFill>
              </a:rPr>
              <a:t>Practise</a:t>
            </a:r>
            <a:endParaRPr lang="en-US" sz="1800" dirty="0"/>
          </a:p>
        </p:txBody>
      </p:sp>
      <p:sp>
        <p:nvSpPr>
          <p:cNvPr id="17" name="Text 12"/>
          <p:cNvSpPr txBox="1"/>
          <p:nvPr/>
        </p:nvSpPr>
        <p:spPr>
          <a:xfrm>
            <a:off x="3895344" y="2880360"/>
            <a:ext cx="1335024" cy="1051560"/>
          </a:xfrm>
          <a:prstGeom prst="rect">
            <a:avLst/>
          </a:prstGeom>
          <a:noFill/>
          <a:ln/>
        </p:spPr>
        <p:txBody>
          <a:bodyPr wrap="square" lIns="0" tIns="0" rIns="0" bIns="0" rtlCol="0" anchor="t"/>
          <a:lstStyle/>
          <a:p>
            <a:pPr algn="ctr" indent="0" marL="0">
              <a:buNone/>
            </a:pPr>
            <a:r>
              <a:rPr lang="en-US" sz="1400" dirty="0">
                <a:solidFill>
                  <a:schemeClr val="bg1"/>
                </a:solidFill>
              </a:rPr>
              <a:t>Worksheets, games and the question bank.</a:t>
            </a:r>
            <a:endParaRPr lang="en-US" sz="1400" dirty="0"/>
          </a:p>
        </p:txBody>
      </p:sp>
      <p:sp>
        <p:nvSpPr>
          <p:cNvPr id="18" name="Check step"/>
          <p:cNvSpPr/>
          <p:nvPr/>
        </p:nvSpPr>
        <p:spPr>
          <a:xfrm>
            <a:off x="5449824" y="1371600"/>
            <a:ext cx="1554480" cy="2651760"/>
          </a:xfrm>
          <a:prstGeom prst="roundRect">
            <a:avLst>
              <a:gd name="adj" fmla="val 5882"/>
            </a:avLst>
          </a:prstGeom>
          <a:solidFill>
            <a:schemeClr val="accent4"/>
          </a:solidFill>
          <a:ln w="12700">
            <a:solidFill>
              <a:srgbClr val="1F4B38"/>
            </a:solidFill>
            <a:prstDash val="solid"/>
          </a:ln>
        </p:spPr>
      </p:sp>
      <p:sp>
        <p:nvSpPr>
          <p:cNvPr id="19" name="Check circle"/>
          <p:cNvSpPr/>
          <p:nvPr/>
        </p:nvSpPr>
        <p:spPr>
          <a:xfrm>
            <a:off x="5861304" y="1600200"/>
            <a:ext cx="731520" cy="731520"/>
          </a:xfrm>
          <a:prstGeom prst="ellipse">
            <a:avLst/>
          </a:prstGeom>
          <a:solidFill>
            <a:schemeClr val="accent2"/>
          </a:solidFill>
          <a:ln w="12700">
            <a:solidFill>
              <a:schemeClr val="accent2"/>
            </a:solidFill>
            <a:prstDash val="solid"/>
          </a:ln>
        </p:spPr>
      </p:sp>
      <p:pic>
        <p:nvPicPr>
          <p:cNvPr id="20" name="Image 3" descr="Check">    </p:cNvPr>
          <p:cNvPicPr>
            <a:picLocks noChangeAspect="1"/>
          </p:cNvPicPr>
          <p:nvPr/>
        </p:nvPicPr>
        <p:blipFill>
          <a:blip r:embed="rId4"/>
          <a:stretch>
            <a:fillRect/>
          </a:stretch>
        </p:blipFill>
        <p:spPr>
          <a:xfrm>
            <a:off x="6044184" y="1783080"/>
            <a:ext cx="365760" cy="365760"/>
          </a:xfrm>
          <a:prstGeom prst="rect">
            <a:avLst/>
          </a:prstGeom>
        </p:spPr>
      </p:pic>
      <p:sp>
        <p:nvSpPr>
          <p:cNvPr id="21" name="Text 15"/>
          <p:cNvSpPr txBox="1"/>
          <p:nvPr/>
        </p:nvSpPr>
        <p:spPr>
          <a:xfrm>
            <a:off x="5541264" y="2514600"/>
            <a:ext cx="1371600" cy="320040"/>
          </a:xfrm>
          <a:prstGeom prst="rect">
            <a:avLst/>
          </a:prstGeom>
          <a:noFill/>
          <a:ln/>
        </p:spPr>
        <p:txBody>
          <a:bodyPr wrap="square" lIns="0" tIns="0" rIns="0" bIns="0" rtlCol="0" anchor="ctr"/>
          <a:lstStyle/>
          <a:p>
            <a:pPr algn="ctr" indent="0" marL="0">
              <a:buNone/>
            </a:pPr>
            <a:r>
              <a:rPr lang="en-US" sz="1800" b="1" dirty="0">
                <a:solidFill>
                  <a:schemeClr val="accent2"/>
                </a:solidFill>
              </a:rPr>
              <a:t>Check</a:t>
            </a:r>
            <a:endParaRPr lang="en-US" sz="1800" dirty="0"/>
          </a:p>
        </p:txBody>
      </p:sp>
      <p:sp>
        <p:nvSpPr>
          <p:cNvPr id="22" name="Text 16"/>
          <p:cNvSpPr txBox="1"/>
          <p:nvPr/>
        </p:nvSpPr>
        <p:spPr>
          <a:xfrm>
            <a:off x="5559552" y="2880360"/>
            <a:ext cx="1335024" cy="1051560"/>
          </a:xfrm>
          <a:prstGeom prst="rect">
            <a:avLst/>
          </a:prstGeom>
          <a:noFill/>
          <a:ln/>
        </p:spPr>
        <p:txBody>
          <a:bodyPr wrap="square" lIns="0" tIns="0" rIns="0" bIns="0" rtlCol="0" anchor="t"/>
          <a:lstStyle/>
          <a:p>
            <a:pPr algn="ctr" indent="0" marL="0">
              <a:buNone/>
            </a:pPr>
            <a:r>
              <a:rPr lang="en-US" sz="1400" dirty="0">
                <a:solidFill>
                  <a:schemeClr val="bg1"/>
                </a:solidFill>
              </a:rPr>
              <a:t>An auto-graded quiz or assignment.</a:t>
            </a:r>
            <a:endParaRPr lang="en-US" sz="1400" dirty="0"/>
          </a:p>
        </p:txBody>
      </p:sp>
      <p:sp>
        <p:nvSpPr>
          <p:cNvPr id="23" name="Review step"/>
          <p:cNvSpPr/>
          <p:nvPr/>
        </p:nvSpPr>
        <p:spPr>
          <a:xfrm>
            <a:off x="7114032" y="1371600"/>
            <a:ext cx="1554480" cy="2651760"/>
          </a:xfrm>
          <a:prstGeom prst="roundRect">
            <a:avLst>
              <a:gd name="adj" fmla="val 5882"/>
            </a:avLst>
          </a:prstGeom>
          <a:solidFill>
            <a:schemeClr val="accent4"/>
          </a:solidFill>
          <a:ln w="12700">
            <a:solidFill>
              <a:srgbClr val="1F4B38"/>
            </a:solidFill>
            <a:prstDash val="solid"/>
          </a:ln>
        </p:spPr>
      </p:sp>
      <p:sp>
        <p:nvSpPr>
          <p:cNvPr id="24" name="Review circle"/>
          <p:cNvSpPr/>
          <p:nvPr/>
        </p:nvSpPr>
        <p:spPr>
          <a:xfrm>
            <a:off x="7525512" y="1600200"/>
            <a:ext cx="731520" cy="731520"/>
          </a:xfrm>
          <a:prstGeom prst="ellipse">
            <a:avLst/>
          </a:prstGeom>
          <a:solidFill>
            <a:schemeClr val="accent2"/>
          </a:solidFill>
          <a:ln w="12700">
            <a:solidFill>
              <a:schemeClr val="accent2"/>
            </a:solidFill>
            <a:prstDash val="solid"/>
          </a:ln>
        </p:spPr>
      </p:sp>
      <p:pic>
        <p:nvPicPr>
          <p:cNvPr id="25" name="Image 4" descr="Review">    </p:cNvPr>
          <p:cNvPicPr>
            <a:picLocks noChangeAspect="1"/>
          </p:cNvPicPr>
          <p:nvPr/>
        </p:nvPicPr>
        <p:blipFill>
          <a:blip r:embed="rId5"/>
          <a:stretch>
            <a:fillRect/>
          </a:stretch>
        </p:blipFill>
        <p:spPr>
          <a:xfrm>
            <a:off x="7708392" y="1783080"/>
            <a:ext cx="365760" cy="365760"/>
          </a:xfrm>
          <a:prstGeom prst="rect">
            <a:avLst/>
          </a:prstGeom>
        </p:spPr>
      </p:pic>
      <p:sp>
        <p:nvSpPr>
          <p:cNvPr id="26" name="Text 19"/>
          <p:cNvSpPr txBox="1"/>
          <p:nvPr/>
        </p:nvSpPr>
        <p:spPr>
          <a:xfrm>
            <a:off x="7205472" y="2514600"/>
            <a:ext cx="1371600" cy="320040"/>
          </a:xfrm>
          <a:prstGeom prst="rect">
            <a:avLst/>
          </a:prstGeom>
          <a:noFill/>
          <a:ln/>
        </p:spPr>
        <p:txBody>
          <a:bodyPr wrap="square" lIns="0" tIns="0" rIns="0" bIns="0" rtlCol="0" anchor="ctr"/>
          <a:lstStyle/>
          <a:p>
            <a:pPr algn="ctr" indent="0" marL="0">
              <a:buNone/>
            </a:pPr>
            <a:r>
              <a:rPr lang="en-US" sz="1800" b="1" dirty="0">
                <a:solidFill>
                  <a:schemeClr val="accent2"/>
                </a:solidFill>
              </a:rPr>
              <a:t>Review</a:t>
            </a:r>
            <a:endParaRPr lang="en-US" sz="1800" dirty="0"/>
          </a:p>
        </p:txBody>
      </p:sp>
      <p:sp>
        <p:nvSpPr>
          <p:cNvPr id="27" name="Text 20"/>
          <p:cNvSpPr txBox="1"/>
          <p:nvPr/>
        </p:nvSpPr>
        <p:spPr>
          <a:xfrm>
            <a:off x="7223760" y="2880360"/>
            <a:ext cx="1335024" cy="1051560"/>
          </a:xfrm>
          <a:prstGeom prst="rect">
            <a:avLst/>
          </a:prstGeom>
          <a:noFill/>
          <a:ln/>
        </p:spPr>
        <p:txBody>
          <a:bodyPr wrap="square" lIns="0" tIns="0" rIns="0" bIns="0" rtlCol="0" anchor="t"/>
          <a:lstStyle/>
          <a:p>
            <a:pPr algn="ctr" indent="0" marL="0">
              <a:buNone/>
            </a:pPr>
            <a:r>
              <a:rPr lang="en-US" sz="1400" dirty="0">
                <a:solidFill>
                  <a:schemeClr val="bg1"/>
                </a:solidFill>
              </a:rPr>
              <a:t>Results, progress and feedback.</a:t>
            </a:r>
            <a:endParaRPr lang="en-US" sz="1400" dirty="0"/>
          </a:p>
        </p:txBody>
      </p:sp>
      <p:sp>
        <p:nvSpPr>
          <p:cNvPr id="28" name="Text 21"/>
          <p:cNvSpPr txBox="1"/>
          <p:nvPr/>
        </p:nvSpPr>
        <p:spPr>
          <a:xfrm>
            <a:off x="457200" y="4160520"/>
            <a:ext cx="8229600" cy="457200"/>
          </a:xfrm>
          <a:prstGeom prst="rect">
            <a:avLst/>
          </a:prstGeom>
          <a:noFill/>
          <a:ln/>
        </p:spPr>
        <p:txBody>
          <a:bodyPr wrap="square" lIns="0" tIns="0" rIns="0" bIns="0" rtlCol="0" anchor="ctr"/>
          <a:lstStyle/>
          <a:p>
            <a:pPr indent="0" marL="0">
              <a:buNone/>
            </a:pPr>
            <a:r>
              <a:rPr lang="en-US" sz="1400" dirty="0">
                <a:solidFill>
                  <a:srgbClr val="B7D4C2"/>
                </a:solidFill>
              </a:rPr>
              <a:t>Students can also follow the same path on their own, which supports homework, absences and catch-up.</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7D4C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For parents: clear, regular updates (K–8)</a:t>
            </a:r>
            <a:endParaRPr lang="en-US" sz="3000" dirty="0"/>
          </a:p>
        </p:txBody>
      </p:sp>
      <p:sp>
        <p:nvSpPr>
          <p:cNvPr id="3" name="Printable progress reports card"/>
          <p:cNvSpPr/>
          <p:nvPr/>
        </p:nvSpPr>
        <p:spPr>
          <a:xfrm>
            <a:off x="457200" y="1325880"/>
            <a:ext cx="2651760" cy="2926080"/>
          </a:xfrm>
          <a:prstGeom prst="roundRect">
            <a:avLst>
              <a:gd name="adj" fmla="val 3448"/>
            </a:avLst>
          </a:prstGeom>
          <a:solidFill>
            <a:schemeClr val="bg1"/>
          </a:solidFill>
          <a:ln w="12700">
            <a:solidFill>
              <a:srgbClr val="D3DBCD"/>
            </a:solidFill>
            <a:prstDash val="solid"/>
          </a:ln>
        </p:spPr>
      </p:sp>
      <p:sp>
        <p:nvSpPr>
          <p:cNvPr id="4" name="Printable progress reports circle"/>
          <p:cNvSpPr/>
          <p:nvPr/>
        </p:nvSpPr>
        <p:spPr>
          <a:xfrm>
            <a:off x="685800" y="1554480"/>
            <a:ext cx="640080" cy="640080"/>
          </a:xfrm>
          <a:prstGeom prst="ellipse">
            <a:avLst/>
          </a:prstGeom>
          <a:solidFill>
            <a:schemeClr val="accent1"/>
          </a:solidFill>
          <a:ln w="12700">
            <a:solidFill>
              <a:schemeClr val="accent1"/>
            </a:solidFill>
            <a:prstDash val="solid"/>
          </a:ln>
        </p:spPr>
      </p:sp>
      <p:pic>
        <p:nvPicPr>
          <p:cNvPr id="5" name="Image 0" descr="Printable progress reports">    </p:cNvPr>
          <p:cNvPicPr>
            <a:picLocks noChangeAspect="1"/>
          </p:cNvPicPr>
          <p:nvPr/>
        </p:nvPicPr>
        <p:blipFill>
          <a:blip r:embed="rId1"/>
          <a:stretch>
            <a:fillRect/>
          </a:stretch>
        </p:blipFill>
        <p:spPr>
          <a:xfrm>
            <a:off x="845820" y="1714500"/>
            <a:ext cx="320040" cy="320040"/>
          </a:xfrm>
          <a:prstGeom prst="rect">
            <a:avLst/>
          </a:prstGeom>
        </p:spPr>
      </p:pic>
      <p:sp>
        <p:nvSpPr>
          <p:cNvPr id="6" name="Text 3"/>
          <p:cNvSpPr txBox="1"/>
          <p:nvPr/>
        </p:nvSpPr>
        <p:spPr>
          <a:xfrm>
            <a:off x="685800" y="2377440"/>
            <a:ext cx="2240280" cy="548640"/>
          </a:xfrm>
          <a:prstGeom prst="rect">
            <a:avLst/>
          </a:prstGeom>
          <a:noFill/>
          <a:ln/>
        </p:spPr>
        <p:txBody>
          <a:bodyPr wrap="square" lIns="0" tIns="0" rIns="0" bIns="0" rtlCol="0" anchor="t"/>
          <a:lstStyle/>
          <a:p>
            <a:pPr indent="0" marL="0">
              <a:buNone/>
            </a:pPr>
            <a:r>
              <a:rPr lang="en-US" sz="1800" b="1" dirty="0">
                <a:solidFill>
                  <a:schemeClr val="tx1"/>
                </a:solidFill>
              </a:rPr>
              <a:t>Printable progress reports</a:t>
            </a:r>
            <a:endParaRPr lang="en-US" sz="1800" dirty="0"/>
          </a:p>
        </p:txBody>
      </p:sp>
      <p:sp>
        <p:nvSpPr>
          <p:cNvPr id="7" name="Text 4"/>
          <p:cNvSpPr txBox="1"/>
          <p:nvPr/>
        </p:nvSpPr>
        <p:spPr>
          <a:xfrm>
            <a:off x="685800" y="3017520"/>
            <a:ext cx="2240280" cy="1097280"/>
          </a:xfrm>
          <a:prstGeom prst="rect">
            <a:avLst/>
          </a:prstGeom>
          <a:noFill/>
          <a:ln/>
        </p:spPr>
        <p:txBody>
          <a:bodyPr wrap="square" lIns="0" tIns="0" rIns="0" bIns="0" rtlCol="0" anchor="t"/>
          <a:lstStyle/>
          <a:p>
            <a:pPr indent="0" marL="0">
              <a:buNone/>
            </a:pPr>
            <a:r>
              <a:rPr lang="en-US" sz="1400" dirty="0">
                <a:solidFill>
                  <a:schemeClr val="accent5"/>
                </a:solidFill>
              </a:rPr>
              <a:t>Take a report to a parent meeting or send it home.</a:t>
            </a:r>
            <a:endParaRPr lang="en-US" sz="1400" dirty="0"/>
          </a:p>
        </p:txBody>
      </p:sp>
      <p:sp>
        <p:nvSpPr>
          <p:cNvPr id="8" name="Private share links card"/>
          <p:cNvSpPr/>
          <p:nvPr/>
        </p:nvSpPr>
        <p:spPr>
          <a:xfrm>
            <a:off x="3246120" y="1325880"/>
            <a:ext cx="2651760" cy="2926080"/>
          </a:xfrm>
          <a:prstGeom prst="roundRect">
            <a:avLst>
              <a:gd name="adj" fmla="val 3448"/>
            </a:avLst>
          </a:prstGeom>
          <a:solidFill>
            <a:schemeClr val="bg1"/>
          </a:solidFill>
          <a:ln w="12700">
            <a:solidFill>
              <a:srgbClr val="D3DBCD"/>
            </a:solidFill>
            <a:prstDash val="solid"/>
          </a:ln>
        </p:spPr>
      </p:sp>
      <p:sp>
        <p:nvSpPr>
          <p:cNvPr id="9" name="Private share links circle"/>
          <p:cNvSpPr/>
          <p:nvPr/>
        </p:nvSpPr>
        <p:spPr>
          <a:xfrm>
            <a:off x="3474720" y="1554480"/>
            <a:ext cx="640080" cy="640080"/>
          </a:xfrm>
          <a:prstGeom prst="ellipse">
            <a:avLst/>
          </a:prstGeom>
          <a:solidFill>
            <a:schemeClr val="accent1"/>
          </a:solidFill>
          <a:ln w="12700">
            <a:solidFill>
              <a:schemeClr val="accent1"/>
            </a:solidFill>
            <a:prstDash val="solid"/>
          </a:ln>
        </p:spPr>
      </p:sp>
      <p:pic>
        <p:nvPicPr>
          <p:cNvPr id="10" name="Image 1" descr="Private share links">    </p:cNvPr>
          <p:cNvPicPr>
            <a:picLocks noChangeAspect="1"/>
          </p:cNvPicPr>
          <p:nvPr/>
        </p:nvPicPr>
        <p:blipFill>
          <a:blip r:embed="rId2"/>
          <a:stretch>
            <a:fillRect/>
          </a:stretch>
        </p:blipFill>
        <p:spPr>
          <a:xfrm>
            <a:off x="3634740" y="1714500"/>
            <a:ext cx="320040" cy="320040"/>
          </a:xfrm>
          <a:prstGeom prst="rect">
            <a:avLst/>
          </a:prstGeom>
        </p:spPr>
      </p:pic>
      <p:sp>
        <p:nvSpPr>
          <p:cNvPr id="11" name="Text 7"/>
          <p:cNvSpPr txBox="1"/>
          <p:nvPr/>
        </p:nvSpPr>
        <p:spPr>
          <a:xfrm>
            <a:off x="3474720" y="2377440"/>
            <a:ext cx="2240280" cy="548640"/>
          </a:xfrm>
          <a:prstGeom prst="rect">
            <a:avLst/>
          </a:prstGeom>
          <a:noFill/>
          <a:ln/>
        </p:spPr>
        <p:txBody>
          <a:bodyPr wrap="square" lIns="0" tIns="0" rIns="0" bIns="0" rtlCol="0" anchor="t"/>
          <a:lstStyle/>
          <a:p>
            <a:pPr indent="0" marL="0">
              <a:buNone/>
            </a:pPr>
            <a:r>
              <a:rPr lang="en-US" sz="1800" b="1" dirty="0">
                <a:solidFill>
                  <a:schemeClr val="tx1"/>
                </a:solidFill>
              </a:rPr>
              <a:t>Private share links</a:t>
            </a:r>
            <a:endParaRPr lang="en-US" sz="1800" dirty="0"/>
          </a:p>
        </p:txBody>
      </p:sp>
      <p:sp>
        <p:nvSpPr>
          <p:cNvPr id="12" name="Text 8"/>
          <p:cNvSpPr txBox="1"/>
          <p:nvPr/>
        </p:nvSpPr>
        <p:spPr>
          <a:xfrm>
            <a:off x="3474720" y="3017520"/>
            <a:ext cx="2240280" cy="1097280"/>
          </a:xfrm>
          <a:prstGeom prst="rect">
            <a:avLst/>
          </a:prstGeom>
          <a:noFill/>
          <a:ln/>
        </p:spPr>
        <p:txBody>
          <a:bodyPr wrap="square" lIns="0" tIns="0" rIns="0" bIns="0" rtlCol="0" anchor="t"/>
          <a:lstStyle/>
          <a:p>
            <a:pPr indent="0" marL="0">
              <a:buNone/>
            </a:pPr>
            <a:r>
              <a:rPr lang="en-US" sz="1400" dirty="0">
                <a:solidFill>
                  <a:schemeClr val="accent5"/>
                </a:solidFill>
              </a:rPr>
              <a:t>Customizable by section and by time period.</a:t>
            </a:r>
            <a:endParaRPr lang="en-US" sz="1400" dirty="0"/>
          </a:p>
        </p:txBody>
      </p:sp>
      <p:sp>
        <p:nvSpPr>
          <p:cNvPr id="13" name="Weekly report emails card"/>
          <p:cNvSpPr/>
          <p:nvPr/>
        </p:nvSpPr>
        <p:spPr>
          <a:xfrm>
            <a:off x="6035040" y="1325880"/>
            <a:ext cx="2651760" cy="2926080"/>
          </a:xfrm>
          <a:prstGeom prst="roundRect">
            <a:avLst>
              <a:gd name="adj" fmla="val 3448"/>
            </a:avLst>
          </a:prstGeom>
          <a:solidFill>
            <a:schemeClr val="bg1"/>
          </a:solidFill>
          <a:ln w="12700">
            <a:solidFill>
              <a:srgbClr val="D3DBCD"/>
            </a:solidFill>
            <a:prstDash val="solid"/>
          </a:ln>
        </p:spPr>
      </p:sp>
      <p:sp>
        <p:nvSpPr>
          <p:cNvPr id="14" name="Weekly report emails circle"/>
          <p:cNvSpPr/>
          <p:nvPr/>
        </p:nvSpPr>
        <p:spPr>
          <a:xfrm>
            <a:off x="6263640" y="1554480"/>
            <a:ext cx="640080" cy="640080"/>
          </a:xfrm>
          <a:prstGeom prst="ellipse">
            <a:avLst/>
          </a:prstGeom>
          <a:solidFill>
            <a:schemeClr val="accent1"/>
          </a:solidFill>
          <a:ln w="12700">
            <a:solidFill>
              <a:schemeClr val="accent1"/>
            </a:solidFill>
            <a:prstDash val="solid"/>
          </a:ln>
        </p:spPr>
      </p:sp>
      <p:pic>
        <p:nvPicPr>
          <p:cNvPr id="15" name="Image 2" descr="Weekly report emails">    </p:cNvPr>
          <p:cNvPicPr>
            <a:picLocks noChangeAspect="1"/>
          </p:cNvPicPr>
          <p:nvPr/>
        </p:nvPicPr>
        <p:blipFill>
          <a:blip r:embed="rId3"/>
          <a:stretch>
            <a:fillRect/>
          </a:stretch>
        </p:blipFill>
        <p:spPr>
          <a:xfrm>
            <a:off x="6423660" y="1714500"/>
            <a:ext cx="320040" cy="320040"/>
          </a:xfrm>
          <a:prstGeom prst="rect">
            <a:avLst/>
          </a:prstGeom>
        </p:spPr>
      </p:pic>
      <p:sp>
        <p:nvSpPr>
          <p:cNvPr id="16" name="Text 11"/>
          <p:cNvSpPr txBox="1"/>
          <p:nvPr/>
        </p:nvSpPr>
        <p:spPr>
          <a:xfrm>
            <a:off x="6263640" y="2377440"/>
            <a:ext cx="2240280" cy="548640"/>
          </a:xfrm>
          <a:prstGeom prst="rect">
            <a:avLst/>
          </a:prstGeom>
          <a:noFill/>
          <a:ln/>
        </p:spPr>
        <p:txBody>
          <a:bodyPr wrap="square" lIns="0" tIns="0" rIns="0" bIns="0" rtlCol="0" anchor="t"/>
          <a:lstStyle/>
          <a:p>
            <a:pPr indent="0" marL="0">
              <a:buNone/>
            </a:pPr>
            <a:r>
              <a:rPr lang="en-US" sz="1800" b="1" dirty="0">
                <a:solidFill>
                  <a:schemeClr val="tx1"/>
                </a:solidFill>
              </a:rPr>
              <a:t>Weekly report emails</a:t>
            </a:r>
            <a:endParaRPr lang="en-US" sz="1800" dirty="0"/>
          </a:p>
        </p:txBody>
      </p:sp>
      <p:sp>
        <p:nvSpPr>
          <p:cNvPr id="17" name="Text 12"/>
          <p:cNvSpPr txBox="1"/>
          <p:nvPr/>
        </p:nvSpPr>
        <p:spPr>
          <a:xfrm>
            <a:off x="6263640" y="3017520"/>
            <a:ext cx="2240280" cy="1097280"/>
          </a:xfrm>
          <a:prstGeom prst="rect">
            <a:avLst/>
          </a:prstGeom>
          <a:noFill/>
          <a:ln/>
        </p:spPr>
        <p:txBody>
          <a:bodyPr wrap="square" lIns="0" tIns="0" rIns="0" bIns="0" rtlCol="0" anchor="t"/>
          <a:lstStyle/>
          <a:p>
            <a:pPr indent="0" marL="0">
              <a:buNone/>
            </a:pPr>
            <a:r>
              <a:rPr lang="en-US" sz="1400" dirty="0">
                <a:solidFill>
                  <a:schemeClr val="accent5"/>
                </a:solidFill>
              </a:rPr>
              <a:t>Sent automatically, summarizing each child’s week, with an optional note from the teacher.</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rPr>
              <a:t>Free for your first year</a:t>
            </a:r>
            <a:endParaRPr lang="en-US" sz="3000" dirty="0"/>
          </a:p>
        </p:txBody>
      </p:sp>
      <p:sp>
        <p:nvSpPr>
          <p:cNvPr id="3" name="Free access card"/>
          <p:cNvSpPr/>
          <p:nvPr/>
        </p:nvSpPr>
        <p:spPr>
          <a:xfrm>
            <a:off x="457200" y="1325880"/>
            <a:ext cx="2651760" cy="2926080"/>
          </a:xfrm>
          <a:prstGeom prst="roundRect">
            <a:avLst>
              <a:gd name="adj" fmla="val 3448"/>
            </a:avLst>
          </a:prstGeom>
          <a:solidFill>
            <a:schemeClr val="accent4"/>
          </a:solidFill>
          <a:ln w="12700">
            <a:solidFill>
              <a:srgbClr val="1F4B38"/>
            </a:solidFill>
            <a:prstDash val="solid"/>
          </a:ln>
        </p:spPr>
      </p:sp>
      <p:sp>
        <p:nvSpPr>
          <p:cNvPr id="4" name="Free access circle"/>
          <p:cNvSpPr/>
          <p:nvPr/>
        </p:nvSpPr>
        <p:spPr>
          <a:xfrm>
            <a:off x="685800" y="1554480"/>
            <a:ext cx="640080" cy="640080"/>
          </a:xfrm>
          <a:prstGeom prst="ellipse">
            <a:avLst/>
          </a:prstGeom>
          <a:solidFill>
            <a:schemeClr val="accent2"/>
          </a:solidFill>
          <a:ln w="12700">
            <a:solidFill>
              <a:schemeClr val="accent2"/>
            </a:solidFill>
            <a:prstDash val="solid"/>
          </a:ln>
        </p:spPr>
      </p:sp>
      <p:pic>
        <p:nvPicPr>
          <p:cNvPr id="5" name="Image 0" descr="Free access">    </p:cNvPr>
          <p:cNvPicPr>
            <a:picLocks noChangeAspect="1"/>
          </p:cNvPicPr>
          <p:nvPr/>
        </p:nvPicPr>
        <p:blipFill>
          <a:blip r:embed="rId1"/>
          <a:stretch>
            <a:fillRect/>
          </a:stretch>
        </p:blipFill>
        <p:spPr>
          <a:xfrm>
            <a:off x="845820" y="1714500"/>
            <a:ext cx="320040" cy="320040"/>
          </a:xfrm>
          <a:prstGeom prst="rect">
            <a:avLst/>
          </a:prstGeom>
        </p:spPr>
      </p:pic>
      <p:sp>
        <p:nvSpPr>
          <p:cNvPr id="6" name="Text 3"/>
          <p:cNvSpPr txBox="1"/>
          <p:nvPr/>
        </p:nvSpPr>
        <p:spPr>
          <a:xfrm>
            <a:off x="685800" y="2377440"/>
            <a:ext cx="2240280" cy="365760"/>
          </a:xfrm>
          <a:prstGeom prst="rect">
            <a:avLst/>
          </a:prstGeom>
          <a:noFill/>
          <a:ln/>
        </p:spPr>
        <p:txBody>
          <a:bodyPr wrap="square" lIns="0" tIns="0" rIns="0" bIns="0" rtlCol="0" anchor="ctr"/>
          <a:lstStyle/>
          <a:p>
            <a:pPr indent="0" marL="0">
              <a:buNone/>
            </a:pPr>
            <a:r>
              <a:rPr lang="en-US" sz="2000" b="1" dirty="0">
                <a:solidFill>
                  <a:schemeClr val="accent2"/>
                </a:solidFill>
              </a:rPr>
              <a:t>Free access</a:t>
            </a:r>
            <a:endParaRPr lang="en-US" sz="2000" dirty="0"/>
          </a:p>
        </p:txBody>
      </p:sp>
      <p:sp>
        <p:nvSpPr>
          <p:cNvPr id="7" name="Text 4"/>
          <p:cNvSpPr txBox="1"/>
          <p:nvPr/>
        </p:nvSpPr>
        <p:spPr>
          <a:xfrm>
            <a:off x="685800" y="2834640"/>
            <a:ext cx="2240280" cy="1325880"/>
          </a:xfrm>
          <a:prstGeom prst="rect">
            <a:avLst/>
          </a:prstGeom>
          <a:noFill/>
          <a:ln/>
        </p:spPr>
        <p:txBody>
          <a:bodyPr wrap="square" lIns="0" tIns="0" rIns="0" bIns="0" rtlCol="0" anchor="t"/>
          <a:lstStyle/>
          <a:p>
            <a:pPr indent="0" marL="0">
              <a:buNone/>
            </a:pPr>
            <a:r>
              <a:rPr lang="en-US" sz="1400" dirty="0">
                <a:solidFill>
                  <a:schemeClr val="bg1"/>
                </a:solidFill>
              </a:rPr>
              <a:t>For participating classrooms, on both integrationacademy.org and integrationacademy.ca.</a:t>
            </a:r>
            <a:endParaRPr lang="en-US" sz="1400" dirty="0"/>
          </a:p>
        </p:txBody>
      </p:sp>
      <p:sp>
        <p:nvSpPr>
          <p:cNvPr id="8" name="Set-up help card"/>
          <p:cNvSpPr/>
          <p:nvPr/>
        </p:nvSpPr>
        <p:spPr>
          <a:xfrm>
            <a:off x="3246120" y="1325880"/>
            <a:ext cx="2651760" cy="2926080"/>
          </a:xfrm>
          <a:prstGeom prst="roundRect">
            <a:avLst>
              <a:gd name="adj" fmla="val 3448"/>
            </a:avLst>
          </a:prstGeom>
          <a:solidFill>
            <a:schemeClr val="accent4"/>
          </a:solidFill>
          <a:ln w="12700">
            <a:solidFill>
              <a:srgbClr val="1F4B38"/>
            </a:solidFill>
            <a:prstDash val="solid"/>
          </a:ln>
        </p:spPr>
      </p:sp>
      <p:sp>
        <p:nvSpPr>
          <p:cNvPr id="9" name="Set-up help circle"/>
          <p:cNvSpPr/>
          <p:nvPr/>
        </p:nvSpPr>
        <p:spPr>
          <a:xfrm>
            <a:off x="3474720" y="1554480"/>
            <a:ext cx="640080" cy="640080"/>
          </a:xfrm>
          <a:prstGeom prst="ellipse">
            <a:avLst/>
          </a:prstGeom>
          <a:solidFill>
            <a:schemeClr val="accent2"/>
          </a:solidFill>
          <a:ln w="12700">
            <a:solidFill>
              <a:schemeClr val="accent2"/>
            </a:solidFill>
            <a:prstDash val="solid"/>
          </a:ln>
        </p:spPr>
      </p:sp>
      <p:pic>
        <p:nvPicPr>
          <p:cNvPr id="10" name="Image 1" descr="Set-up help">    </p:cNvPr>
          <p:cNvPicPr>
            <a:picLocks noChangeAspect="1"/>
          </p:cNvPicPr>
          <p:nvPr/>
        </p:nvPicPr>
        <p:blipFill>
          <a:blip r:embed="rId2"/>
          <a:stretch>
            <a:fillRect/>
          </a:stretch>
        </p:blipFill>
        <p:spPr>
          <a:xfrm>
            <a:off x="3634740" y="1714500"/>
            <a:ext cx="320040" cy="320040"/>
          </a:xfrm>
          <a:prstGeom prst="rect">
            <a:avLst/>
          </a:prstGeom>
        </p:spPr>
      </p:pic>
      <p:sp>
        <p:nvSpPr>
          <p:cNvPr id="11" name="Text 7"/>
          <p:cNvSpPr txBox="1"/>
          <p:nvPr/>
        </p:nvSpPr>
        <p:spPr>
          <a:xfrm>
            <a:off x="3474720" y="2377440"/>
            <a:ext cx="2240280" cy="365760"/>
          </a:xfrm>
          <a:prstGeom prst="rect">
            <a:avLst/>
          </a:prstGeom>
          <a:noFill/>
          <a:ln/>
        </p:spPr>
        <p:txBody>
          <a:bodyPr wrap="square" lIns="0" tIns="0" rIns="0" bIns="0" rtlCol="0" anchor="ctr"/>
          <a:lstStyle/>
          <a:p>
            <a:pPr indent="0" marL="0">
              <a:buNone/>
            </a:pPr>
            <a:r>
              <a:rPr lang="en-US" sz="2000" b="1" dirty="0">
                <a:solidFill>
                  <a:schemeClr val="accent2"/>
                </a:solidFill>
              </a:rPr>
              <a:t>Set-up help</a:t>
            </a:r>
            <a:endParaRPr lang="en-US" sz="2000" dirty="0"/>
          </a:p>
        </p:txBody>
      </p:sp>
      <p:sp>
        <p:nvSpPr>
          <p:cNvPr id="12" name="Text 8"/>
          <p:cNvSpPr txBox="1"/>
          <p:nvPr/>
        </p:nvSpPr>
        <p:spPr>
          <a:xfrm>
            <a:off x="3474720" y="2834640"/>
            <a:ext cx="2240280" cy="1325880"/>
          </a:xfrm>
          <a:prstGeom prst="rect">
            <a:avLst/>
          </a:prstGeom>
          <a:noFill/>
          <a:ln/>
        </p:spPr>
        <p:txBody>
          <a:bodyPr wrap="square" lIns="0" tIns="0" rIns="0" bIns="0" rtlCol="0" anchor="t"/>
          <a:lstStyle/>
          <a:p>
            <a:pPr indent="0" marL="0">
              <a:buNone/>
            </a:pPr>
            <a:r>
              <a:rPr lang="en-US" sz="1400" dirty="0">
                <a:solidFill>
                  <a:schemeClr val="bg1"/>
                </a:solidFill>
              </a:rPr>
              <a:t>Help creating classes, and a short training session for participating teachers.</a:t>
            </a:r>
            <a:endParaRPr lang="en-US" sz="1400" dirty="0"/>
          </a:p>
        </p:txBody>
      </p:sp>
      <p:sp>
        <p:nvSpPr>
          <p:cNvPr id="13" name="No commitment card"/>
          <p:cNvSpPr/>
          <p:nvPr/>
        </p:nvSpPr>
        <p:spPr>
          <a:xfrm>
            <a:off x="6035040" y="1325880"/>
            <a:ext cx="2651760" cy="2926080"/>
          </a:xfrm>
          <a:prstGeom prst="roundRect">
            <a:avLst>
              <a:gd name="adj" fmla="val 3448"/>
            </a:avLst>
          </a:prstGeom>
          <a:solidFill>
            <a:schemeClr val="accent4"/>
          </a:solidFill>
          <a:ln w="12700">
            <a:solidFill>
              <a:srgbClr val="1F4B38"/>
            </a:solidFill>
            <a:prstDash val="solid"/>
          </a:ln>
        </p:spPr>
      </p:sp>
      <p:sp>
        <p:nvSpPr>
          <p:cNvPr id="14" name="No commitment circle"/>
          <p:cNvSpPr/>
          <p:nvPr/>
        </p:nvSpPr>
        <p:spPr>
          <a:xfrm>
            <a:off x="6263640" y="1554480"/>
            <a:ext cx="640080" cy="640080"/>
          </a:xfrm>
          <a:prstGeom prst="ellipse">
            <a:avLst/>
          </a:prstGeom>
          <a:solidFill>
            <a:schemeClr val="accent2"/>
          </a:solidFill>
          <a:ln w="12700">
            <a:solidFill>
              <a:schemeClr val="accent2"/>
            </a:solidFill>
            <a:prstDash val="solid"/>
          </a:ln>
        </p:spPr>
      </p:sp>
      <p:pic>
        <p:nvPicPr>
          <p:cNvPr id="15" name="Image 2" descr="No commitment">    </p:cNvPr>
          <p:cNvPicPr>
            <a:picLocks noChangeAspect="1"/>
          </p:cNvPicPr>
          <p:nvPr/>
        </p:nvPicPr>
        <p:blipFill>
          <a:blip r:embed="rId3"/>
          <a:stretch>
            <a:fillRect/>
          </a:stretch>
        </p:blipFill>
        <p:spPr>
          <a:xfrm>
            <a:off x="6423660" y="1714500"/>
            <a:ext cx="320040" cy="320040"/>
          </a:xfrm>
          <a:prstGeom prst="rect">
            <a:avLst/>
          </a:prstGeom>
        </p:spPr>
      </p:pic>
      <p:sp>
        <p:nvSpPr>
          <p:cNvPr id="16" name="Text 11"/>
          <p:cNvSpPr txBox="1"/>
          <p:nvPr/>
        </p:nvSpPr>
        <p:spPr>
          <a:xfrm>
            <a:off x="6263640" y="2377440"/>
            <a:ext cx="2240280" cy="365760"/>
          </a:xfrm>
          <a:prstGeom prst="rect">
            <a:avLst/>
          </a:prstGeom>
          <a:noFill/>
          <a:ln/>
        </p:spPr>
        <p:txBody>
          <a:bodyPr wrap="square" lIns="0" tIns="0" rIns="0" bIns="0" rtlCol="0" anchor="ctr"/>
          <a:lstStyle/>
          <a:p>
            <a:pPr indent="0" marL="0">
              <a:buNone/>
            </a:pPr>
            <a:r>
              <a:rPr lang="en-US" sz="2000" b="1" dirty="0">
                <a:solidFill>
                  <a:schemeClr val="accent2"/>
                </a:solidFill>
              </a:rPr>
              <a:t>No commitment</a:t>
            </a:r>
            <a:endParaRPr lang="en-US" sz="2000" dirty="0"/>
          </a:p>
        </p:txBody>
      </p:sp>
      <p:sp>
        <p:nvSpPr>
          <p:cNvPr id="17" name="Text 12"/>
          <p:cNvSpPr txBox="1"/>
          <p:nvPr/>
        </p:nvSpPr>
        <p:spPr>
          <a:xfrm>
            <a:off x="6263640" y="2834640"/>
            <a:ext cx="2240280" cy="1325880"/>
          </a:xfrm>
          <a:prstGeom prst="rect">
            <a:avLst/>
          </a:prstGeom>
          <a:noFill/>
          <a:ln/>
        </p:spPr>
        <p:txBody>
          <a:bodyPr wrap="square" lIns="0" tIns="0" rIns="0" bIns="0" rtlCol="0" anchor="t"/>
          <a:lstStyle/>
          <a:p>
            <a:pPr indent="0" marL="0">
              <a:buNone/>
            </a:pPr>
            <a:r>
              <a:rPr lang="en-US" sz="1400" dirty="0">
                <a:solidFill>
                  <a:schemeClr val="bg1"/>
                </a:solidFill>
              </a:rPr>
              <a:t>Nothing obliges you to continue after the first year.</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7D4C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Getting started: four steps on either site</a:t>
            </a:r>
            <a:endParaRPr lang="en-US" sz="3000" dirty="0"/>
          </a:p>
        </p:txBody>
      </p:sp>
      <p:sp>
        <p:nvSpPr>
          <p:cNvPr id="3" name="integrationacademy.org (K–8) card"/>
          <p:cNvSpPr/>
          <p:nvPr/>
        </p:nvSpPr>
        <p:spPr>
          <a:xfrm>
            <a:off x="457200" y="1234440"/>
            <a:ext cx="4023360" cy="3200400"/>
          </a:xfrm>
          <a:prstGeom prst="roundRect">
            <a:avLst>
              <a:gd name="adj" fmla="val 2857"/>
            </a:avLst>
          </a:prstGeom>
          <a:solidFill>
            <a:schemeClr val="bg1"/>
          </a:solidFill>
          <a:ln w="12700">
            <a:solidFill>
              <a:srgbClr val="D3DBCD"/>
            </a:solidFill>
            <a:prstDash val="solid"/>
          </a:ln>
        </p:spPr>
      </p:sp>
      <p:sp>
        <p:nvSpPr>
          <p:cNvPr id="4" name="Text 2"/>
          <p:cNvSpPr txBox="1"/>
          <p:nvPr/>
        </p:nvSpPr>
        <p:spPr>
          <a:xfrm>
            <a:off x="685800" y="1371600"/>
            <a:ext cx="3566160" cy="320040"/>
          </a:xfrm>
          <a:prstGeom prst="rect">
            <a:avLst/>
          </a:prstGeom>
          <a:noFill/>
          <a:ln/>
        </p:spPr>
        <p:txBody>
          <a:bodyPr wrap="square" lIns="0" tIns="0" rIns="0" bIns="0" rtlCol="0" anchor="ctr"/>
          <a:lstStyle/>
          <a:p>
            <a:pPr indent="0" marL="0">
              <a:buNone/>
            </a:pPr>
            <a:r>
              <a:rPr lang="en-US" sz="1600" b="1" dirty="0">
                <a:solidFill>
                  <a:schemeClr val="accent1"/>
                </a:solidFill>
              </a:rPr>
              <a:t>integrationacademy.org (K–8)</a:t>
            </a:r>
            <a:endParaRPr lang="en-US" sz="1600" dirty="0"/>
          </a:p>
        </p:txBody>
      </p:sp>
      <p:sp>
        <p:nvSpPr>
          <p:cNvPr id="5" name="step 1"/>
          <p:cNvSpPr/>
          <p:nvPr/>
        </p:nvSpPr>
        <p:spPr>
          <a:xfrm>
            <a:off x="685800" y="1828800"/>
            <a:ext cx="411480" cy="411480"/>
          </a:xfrm>
          <a:prstGeom prst="ellipse">
            <a:avLst/>
          </a:prstGeom>
          <a:solidFill>
            <a:schemeClr val="accent1"/>
          </a:solidFill>
          <a:ln w="12700">
            <a:solidFill>
              <a:schemeClr val="accent1"/>
            </a:solidFill>
            <a:prstDash val="solid"/>
          </a:ln>
        </p:spPr>
      </p:sp>
      <p:sp>
        <p:nvSpPr>
          <p:cNvPr id="6" name="Text 4"/>
          <p:cNvSpPr txBox="1"/>
          <p:nvPr/>
        </p:nvSpPr>
        <p:spPr>
          <a:xfrm>
            <a:off x="685800" y="1828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1234440" y="1783080"/>
            <a:ext cx="3063240" cy="548640"/>
          </a:xfrm>
          <a:prstGeom prst="rect">
            <a:avLst/>
          </a:prstGeom>
          <a:noFill/>
          <a:ln/>
        </p:spPr>
        <p:txBody>
          <a:bodyPr wrap="square" lIns="0" tIns="0" rIns="0" bIns="0" rtlCol="0" anchor="ctr"/>
          <a:lstStyle/>
          <a:p>
            <a:pPr indent="0" marL="0">
              <a:buNone/>
            </a:pPr>
            <a:r>
              <a:rPr lang="en-US" sz="1400" dirty="0">
                <a:solidFill>
                  <a:schemeClr val="tx1"/>
                </a:solidFill>
              </a:rPr>
              <a:t>Create a teacher account</a:t>
            </a:r>
            <a:endParaRPr lang="en-US" sz="1400" dirty="0"/>
          </a:p>
        </p:txBody>
      </p:sp>
      <p:sp>
        <p:nvSpPr>
          <p:cNvPr id="8" name="step 2"/>
          <p:cNvSpPr/>
          <p:nvPr/>
        </p:nvSpPr>
        <p:spPr>
          <a:xfrm>
            <a:off x="685800" y="2468880"/>
            <a:ext cx="411480" cy="411480"/>
          </a:xfrm>
          <a:prstGeom prst="ellipse">
            <a:avLst/>
          </a:prstGeom>
          <a:solidFill>
            <a:schemeClr val="accent1"/>
          </a:solidFill>
          <a:ln w="12700">
            <a:solidFill>
              <a:schemeClr val="accent1"/>
            </a:solidFill>
            <a:prstDash val="solid"/>
          </a:ln>
        </p:spPr>
      </p:sp>
      <p:sp>
        <p:nvSpPr>
          <p:cNvPr id="9" name="Text 7"/>
          <p:cNvSpPr txBox="1"/>
          <p:nvPr/>
        </p:nvSpPr>
        <p:spPr>
          <a:xfrm>
            <a:off x="685800" y="24688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0" name="Text 8"/>
          <p:cNvSpPr txBox="1"/>
          <p:nvPr/>
        </p:nvSpPr>
        <p:spPr>
          <a:xfrm>
            <a:off x="1234440" y="2423160"/>
            <a:ext cx="3063240" cy="548640"/>
          </a:xfrm>
          <a:prstGeom prst="rect">
            <a:avLst/>
          </a:prstGeom>
          <a:noFill/>
          <a:ln/>
        </p:spPr>
        <p:txBody>
          <a:bodyPr wrap="square" lIns="0" tIns="0" rIns="0" bIns="0" rtlCol="0" anchor="ctr"/>
          <a:lstStyle/>
          <a:p>
            <a:pPr indent="0" marL="0">
              <a:buNone/>
            </a:pPr>
            <a:r>
              <a:rPr lang="en-US" sz="1400" dirty="0">
                <a:solidFill>
                  <a:schemeClr val="tx1"/>
                </a:solidFill>
              </a:rPr>
              <a:t>Create a class and share the class code or QR poster</a:t>
            </a:r>
            <a:endParaRPr lang="en-US" sz="1400" dirty="0"/>
          </a:p>
        </p:txBody>
      </p:sp>
      <p:sp>
        <p:nvSpPr>
          <p:cNvPr id="11" name="step 3"/>
          <p:cNvSpPr/>
          <p:nvPr/>
        </p:nvSpPr>
        <p:spPr>
          <a:xfrm>
            <a:off x="685800" y="3108960"/>
            <a:ext cx="411480" cy="411480"/>
          </a:xfrm>
          <a:prstGeom prst="ellipse">
            <a:avLst/>
          </a:prstGeom>
          <a:solidFill>
            <a:schemeClr val="accent1"/>
          </a:solidFill>
          <a:ln w="12700">
            <a:solidFill>
              <a:schemeClr val="accent1"/>
            </a:solidFill>
            <a:prstDash val="solid"/>
          </a:ln>
        </p:spPr>
      </p:sp>
      <p:sp>
        <p:nvSpPr>
          <p:cNvPr id="12" name="Text 10"/>
          <p:cNvSpPr txBox="1"/>
          <p:nvPr/>
        </p:nvSpPr>
        <p:spPr>
          <a:xfrm>
            <a:off x="685800" y="31089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3" name="Text 11"/>
          <p:cNvSpPr txBox="1"/>
          <p:nvPr/>
        </p:nvSpPr>
        <p:spPr>
          <a:xfrm>
            <a:off x="1234440" y="3063240"/>
            <a:ext cx="3063240" cy="548640"/>
          </a:xfrm>
          <a:prstGeom prst="rect">
            <a:avLst/>
          </a:prstGeom>
          <a:noFill/>
          <a:ln/>
        </p:spPr>
        <p:txBody>
          <a:bodyPr wrap="square" lIns="0" tIns="0" rIns="0" bIns="0" rtlCol="0" anchor="ctr"/>
          <a:lstStyle/>
          <a:p>
            <a:pPr indent="0" marL="0">
              <a:buNone/>
            </a:pPr>
            <a:r>
              <a:rPr lang="en-US" sz="1400" dirty="0">
                <a:solidFill>
                  <a:schemeClr val="tx1"/>
                </a:solidFill>
              </a:rPr>
              <a:t>Unlock the first topic</a:t>
            </a:r>
            <a:endParaRPr lang="en-US" sz="1400" dirty="0"/>
          </a:p>
        </p:txBody>
      </p:sp>
      <p:sp>
        <p:nvSpPr>
          <p:cNvPr id="14" name="step 4"/>
          <p:cNvSpPr/>
          <p:nvPr/>
        </p:nvSpPr>
        <p:spPr>
          <a:xfrm>
            <a:off x="685800" y="3749040"/>
            <a:ext cx="411480" cy="411480"/>
          </a:xfrm>
          <a:prstGeom prst="ellipse">
            <a:avLst/>
          </a:prstGeom>
          <a:solidFill>
            <a:schemeClr val="accent1"/>
          </a:solidFill>
          <a:ln w="12700">
            <a:solidFill>
              <a:schemeClr val="accent1"/>
            </a:solidFill>
            <a:prstDash val="solid"/>
          </a:ln>
        </p:spPr>
      </p:sp>
      <p:sp>
        <p:nvSpPr>
          <p:cNvPr id="15" name="Text 13"/>
          <p:cNvSpPr txBox="1"/>
          <p:nvPr/>
        </p:nvSpPr>
        <p:spPr>
          <a:xfrm>
            <a:off x="685800" y="37490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6" name="Text 14"/>
          <p:cNvSpPr txBox="1"/>
          <p:nvPr/>
        </p:nvSpPr>
        <p:spPr>
          <a:xfrm>
            <a:off x="1234440" y="3703320"/>
            <a:ext cx="3063240" cy="548640"/>
          </a:xfrm>
          <a:prstGeom prst="rect">
            <a:avLst/>
          </a:prstGeom>
          <a:noFill/>
          <a:ln/>
        </p:spPr>
        <p:txBody>
          <a:bodyPr wrap="square" lIns="0" tIns="0" rIns="0" bIns="0" rtlCol="0" anchor="ctr"/>
          <a:lstStyle/>
          <a:p>
            <a:pPr indent="0" marL="0">
              <a:buNone/>
            </a:pPr>
            <a:r>
              <a:rPr lang="en-US" sz="1400" dirty="0">
                <a:solidFill>
                  <a:schemeClr val="tx1"/>
                </a:solidFill>
              </a:rPr>
              <a:t>Teach the slides, then set the worksheet and a quick quiz</a:t>
            </a:r>
            <a:endParaRPr lang="en-US" sz="1400" dirty="0"/>
          </a:p>
        </p:txBody>
      </p:sp>
      <p:sp>
        <p:nvSpPr>
          <p:cNvPr id="17" name="integrationacademy.ca (9–12) card"/>
          <p:cNvSpPr/>
          <p:nvPr/>
        </p:nvSpPr>
        <p:spPr>
          <a:xfrm>
            <a:off x="4663440" y="1234440"/>
            <a:ext cx="4023360" cy="3200400"/>
          </a:xfrm>
          <a:prstGeom prst="roundRect">
            <a:avLst>
              <a:gd name="adj" fmla="val 2857"/>
            </a:avLst>
          </a:prstGeom>
          <a:solidFill>
            <a:schemeClr val="bg1"/>
          </a:solidFill>
          <a:ln w="12700">
            <a:solidFill>
              <a:srgbClr val="D3DBCD"/>
            </a:solidFill>
            <a:prstDash val="solid"/>
          </a:ln>
        </p:spPr>
      </p:sp>
      <p:sp>
        <p:nvSpPr>
          <p:cNvPr id="18" name="Text 16"/>
          <p:cNvSpPr txBox="1"/>
          <p:nvPr/>
        </p:nvSpPr>
        <p:spPr>
          <a:xfrm>
            <a:off x="4892040" y="1371600"/>
            <a:ext cx="3566160" cy="320040"/>
          </a:xfrm>
          <a:prstGeom prst="rect">
            <a:avLst/>
          </a:prstGeom>
          <a:noFill/>
          <a:ln/>
        </p:spPr>
        <p:txBody>
          <a:bodyPr wrap="square" lIns="0" tIns="0" rIns="0" bIns="0" rtlCol="0" anchor="ctr"/>
          <a:lstStyle/>
          <a:p>
            <a:pPr indent="0" marL="0">
              <a:buNone/>
            </a:pPr>
            <a:r>
              <a:rPr lang="en-US" sz="1600" b="1" dirty="0">
                <a:solidFill>
                  <a:schemeClr val="accent1"/>
                </a:solidFill>
              </a:rPr>
              <a:t>integrationacademy.ca (9–12)</a:t>
            </a:r>
            <a:endParaRPr lang="en-US" sz="1600" dirty="0"/>
          </a:p>
        </p:txBody>
      </p:sp>
      <p:sp>
        <p:nvSpPr>
          <p:cNvPr id="19" name="step 1"/>
          <p:cNvSpPr/>
          <p:nvPr/>
        </p:nvSpPr>
        <p:spPr>
          <a:xfrm>
            <a:off x="4892040" y="1828800"/>
            <a:ext cx="411480" cy="411480"/>
          </a:xfrm>
          <a:prstGeom prst="ellipse">
            <a:avLst/>
          </a:prstGeom>
          <a:solidFill>
            <a:schemeClr val="accent1"/>
          </a:solidFill>
          <a:ln w="12700">
            <a:solidFill>
              <a:schemeClr val="accent1"/>
            </a:solidFill>
            <a:prstDash val="solid"/>
          </a:ln>
        </p:spPr>
      </p:sp>
      <p:sp>
        <p:nvSpPr>
          <p:cNvPr id="20" name="Text 18"/>
          <p:cNvSpPr txBox="1"/>
          <p:nvPr/>
        </p:nvSpPr>
        <p:spPr>
          <a:xfrm>
            <a:off x="4892040" y="18288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 19"/>
          <p:cNvSpPr txBox="1"/>
          <p:nvPr/>
        </p:nvSpPr>
        <p:spPr>
          <a:xfrm>
            <a:off x="5440680" y="1783080"/>
            <a:ext cx="3063240" cy="548640"/>
          </a:xfrm>
          <a:prstGeom prst="rect">
            <a:avLst/>
          </a:prstGeom>
          <a:noFill/>
          <a:ln/>
        </p:spPr>
        <p:txBody>
          <a:bodyPr wrap="square" lIns="0" tIns="0" rIns="0" bIns="0" rtlCol="0" anchor="ctr"/>
          <a:lstStyle/>
          <a:p>
            <a:pPr indent="0" marL="0">
              <a:buNone/>
            </a:pPr>
            <a:r>
              <a:rPr lang="en-US" sz="1400" dirty="0">
                <a:solidFill>
                  <a:schemeClr val="tx1"/>
                </a:solidFill>
              </a:rPr>
              <a:t>Create your account</a:t>
            </a:r>
            <a:endParaRPr lang="en-US" sz="1400" dirty="0"/>
          </a:p>
        </p:txBody>
      </p:sp>
      <p:sp>
        <p:nvSpPr>
          <p:cNvPr id="22" name="step 2"/>
          <p:cNvSpPr/>
          <p:nvPr/>
        </p:nvSpPr>
        <p:spPr>
          <a:xfrm>
            <a:off x="4892040" y="2468880"/>
            <a:ext cx="411480" cy="411480"/>
          </a:xfrm>
          <a:prstGeom prst="ellipse">
            <a:avLst/>
          </a:prstGeom>
          <a:solidFill>
            <a:schemeClr val="accent1"/>
          </a:solidFill>
          <a:ln w="12700">
            <a:solidFill>
              <a:schemeClr val="accent1"/>
            </a:solidFill>
            <a:prstDash val="solid"/>
          </a:ln>
        </p:spPr>
      </p:sp>
      <p:sp>
        <p:nvSpPr>
          <p:cNvPr id="23" name="Text 21"/>
          <p:cNvSpPr txBox="1"/>
          <p:nvPr/>
        </p:nvSpPr>
        <p:spPr>
          <a:xfrm>
            <a:off x="4892040" y="24688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4" name="Text 22"/>
          <p:cNvSpPr txBox="1"/>
          <p:nvPr/>
        </p:nvSpPr>
        <p:spPr>
          <a:xfrm>
            <a:off x="5440680" y="2423160"/>
            <a:ext cx="3063240" cy="548640"/>
          </a:xfrm>
          <a:prstGeom prst="rect">
            <a:avLst/>
          </a:prstGeom>
          <a:noFill/>
          <a:ln/>
        </p:spPr>
        <p:txBody>
          <a:bodyPr wrap="square" lIns="0" tIns="0" rIns="0" bIns="0" rtlCol="0" anchor="ctr"/>
          <a:lstStyle/>
          <a:p>
            <a:pPr indent="0" marL="0">
              <a:buNone/>
            </a:pPr>
            <a:r>
              <a:rPr lang="en-US" sz="1400" dirty="0">
                <a:solidFill>
                  <a:schemeClr val="tx1"/>
                </a:solidFill>
              </a:rPr>
              <a:t>Choose your course from the catalog</a:t>
            </a:r>
            <a:endParaRPr lang="en-US" sz="1400" dirty="0"/>
          </a:p>
        </p:txBody>
      </p:sp>
      <p:sp>
        <p:nvSpPr>
          <p:cNvPr id="25" name="step 3"/>
          <p:cNvSpPr/>
          <p:nvPr/>
        </p:nvSpPr>
        <p:spPr>
          <a:xfrm>
            <a:off x="4892040" y="3108960"/>
            <a:ext cx="411480" cy="411480"/>
          </a:xfrm>
          <a:prstGeom prst="ellipse">
            <a:avLst/>
          </a:prstGeom>
          <a:solidFill>
            <a:schemeClr val="accent1"/>
          </a:solidFill>
          <a:ln w="12700">
            <a:solidFill>
              <a:schemeClr val="accent1"/>
            </a:solidFill>
            <a:prstDash val="solid"/>
          </a:ln>
        </p:spPr>
      </p:sp>
      <p:sp>
        <p:nvSpPr>
          <p:cNvPr id="26" name="Text 24"/>
          <p:cNvSpPr txBox="1"/>
          <p:nvPr/>
        </p:nvSpPr>
        <p:spPr>
          <a:xfrm>
            <a:off x="4892040" y="31089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7" name="Text 25"/>
          <p:cNvSpPr txBox="1"/>
          <p:nvPr/>
        </p:nvSpPr>
        <p:spPr>
          <a:xfrm>
            <a:off x="5440680" y="3063240"/>
            <a:ext cx="3063240" cy="548640"/>
          </a:xfrm>
          <a:prstGeom prst="rect">
            <a:avLst/>
          </a:prstGeom>
          <a:noFill/>
          <a:ln/>
        </p:spPr>
        <p:txBody>
          <a:bodyPr wrap="square" lIns="0" tIns="0" rIns="0" bIns="0" rtlCol="0" anchor="ctr"/>
          <a:lstStyle/>
          <a:p>
            <a:pPr indent="0" marL="0">
              <a:buNone/>
            </a:pPr>
            <a:r>
              <a:rPr lang="en-US" sz="1400" dirty="0">
                <a:solidFill>
                  <a:schemeClr val="tx1"/>
                </a:solidFill>
              </a:rPr>
              <a:t>Set up a class and share the join code</a:t>
            </a:r>
            <a:endParaRPr lang="en-US" sz="1400" dirty="0"/>
          </a:p>
        </p:txBody>
      </p:sp>
      <p:sp>
        <p:nvSpPr>
          <p:cNvPr id="28" name="step 4"/>
          <p:cNvSpPr/>
          <p:nvPr/>
        </p:nvSpPr>
        <p:spPr>
          <a:xfrm>
            <a:off x="4892040" y="3749040"/>
            <a:ext cx="411480" cy="411480"/>
          </a:xfrm>
          <a:prstGeom prst="ellipse">
            <a:avLst/>
          </a:prstGeom>
          <a:solidFill>
            <a:schemeClr val="accent1"/>
          </a:solidFill>
          <a:ln w="12700">
            <a:solidFill>
              <a:schemeClr val="accent1"/>
            </a:solidFill>
            <a:prstDash val="solid"/>
          </a:ln>
        </p:spPr>
      </p:sp>
      <p:sp>
        <p:nvSpPr>
          <p:cNvPr id="29" name="Text 27"/>
          <p:cNvSpPr txBox="1"/>
          <p:nvPr/>
        </p:nvSpPr>
        <p:spPr>
          <a:xfrm>
            <a:off x="4892040" y="37490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0" name="Text 28"/>
          <p:cNvSpPr txBox="1"/>
          <p:nvPr/>
        </p:nvSpPr>
        <p:spPr>
          <a:xfrm>
            <a:off x="5440680" y="3703320"/>
            <a:ext cx="3063240" cy="548640"/>
          </a:xfrm>
          <a:prstGeom prst="rect">
            <a:avLst/>
          </a:prstGeom>
          <a:noFill/>
          <a:ln/>
        </p:spPr>
        <p:txBody>
          <a:bodyPr wrap="square" lIns="0" tIns="0" rIns="0" bIns="0" rtlCol="0" anchor="ctr"/>
          <a:lstStyle/>
          <a:p>
            <a:pPr indent="0" marL="0">
              <a:buNone/>
            </a:pPr>
            <a:r>
              <a:rPr lang="en-US" sz="1400" dirty="0">
                <a:solidFill>
                  <a:schemeClr val="tx1"/>
                </a:solidFill>
              </a:rPr>
              <a:t>Assign a lesson, then build a quiz from the question bank</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tx1"/>
                </a:solidFill>
              </a:rPr>
              <a:t>After the free year: plans</a:t>
            </a:r>
            <a:endParaRPr lang="en-US" sz="3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2651760"/>
                <a:gridCol w="2743200"/>
                <a:gridCol w="2834640"/>
              </a:tblGrid>
              <a:tr h="0">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Site</a:t>
                      </a:r>
                      <a:endParaRPr lang="en-US" sz="1400" dirty="0">
                        <a:latin typeface="Calibri" charset="0"/>
                        <a:ea typeface="Calibri" charset="0"/>
                        <a:cs typeface="Calibri" charset="0"/>
                      </a:endParaRPr>
                    </a:p>
                  </a:txBody>
                  <a:tcPr marL="109728" marR="109728" marT="91440" marB="91440"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1780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Student</a:t>
                      </a:r>
                      <a:endParaRPr lang="en-US" sz="1400" dirty="0">
                        <a:latin typeface="Calibri" charset="0"/>
                        <a:ea typeface="Calibri" charset="0"/>
                        <a:cs typeface="Calibri" charset="0"/>
                      </a:endParaRPr>
                    </a:p>
                  </a:txBody>
                  <a:tcPr marL="109728" marR="109728" marT="91440" marB="91440"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17803F"/>
                    </a:solidFill>
                  </a:tcPr>
                </a:tc>
                <a:tc>
                  <a:txBody>
                    <a:bodyPr/>
                    <a:lstStyle/>
                    <a:p>
                      <a:pPr indent="0" marL="0">
                        <a:buNone/>
                      </a:pPr>
                      <a:r>
                        <a:rPr lang="en-US" sz="1400" b="1" dirty="0">
                          <a:solidFill>
                            <a:srgbClr val="FFFFFF"/>
                          </a:solidFill>
                          <a:latin typeface="Calibri" pitchFamily="34" charset="0"/>
                          <a:ea typeface="Calibri" pitchFamily="34" charset="-122"/>
                          <a:cs typeface="Calibri" pitchFamily="34" charset="-120"/>
                        </a:rPr>
                        <a:t>Teacher</a:t>
                      </a:r>
                      <a:endParaRPr lang="en-US" sz="1400" dirty="0">
                        <a:latin typeface="Calibri" charset="0"/>
                        <a:ea typeface="Calibri" charset="0"/>
                        <a:cs typeface="Calibri" charset="0"/>
                      </a:endParaRPr>
                    </a:p>
                  </a:txBody>
                  <a:tcPr marL="109728" marR="109728" marT="91440" marB="91440"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17803F"/>
                    </a:solidFill>
                  </a:tcPr>
                </a:tc>
              </a:tr>
              <a:tr h="0">
                <a:tc>
                  <a:txBody>
                    <a:bodyPr/>
                    <a:lstStyle/>
                    <a:p>
                      <a:pPr indent="0" marL="0">
                        <a:buNone/>
                      </a:pPr>
                      <a:r>
                        <a:rPr lang="en-US" sz="1400" b="1" dirty="0">
                          <a:solidFill>
                            <a:srgbClr val="0F2A1D"/>
                          </a:solidFill>
                          <a:latin typeface="Calibri" pitchFamily="34" charset="0"/>
                          <a:ea typeface="Calibri" pitchFamily="34" charset="-122"/>
                          <a:cs typeface="Calibri" pitchFamily="34" charset="-120"/>
                        </a:rPr>
                        <a:t>integrationacademy.org (K–8)</a:t>
                      </a:r>
                      <a:endParaRPr lang="en-US" sz="1400" dirty="0">
                        <a:latin typeface="Calibri" charset="0"/>
                        <a:ea typeface="Calibri" charset="0"/>
                        <a:cs typeface="Calibri" charset="0"/>
                      </a:endParaRPr>
                    </a:p>
                  </a:txBody>
                  <a:tcPr marL="109728" marR="109728" marT="91440" marB="91440"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400" dirty="0">
                          <a:solidFill>
                            <a:srgbClr val="0F2A1D"/>
                          </a:solidFill>
                          <a:latin typeface="Calibri" pitchFamily="34" charset="0"/>
                          <a:ea typeface="Calibri" pitchFamily="34" charset="-122"/>
                          <a:cs typeface="Calibri" pitchFamily="34" charset="-120"/>
                        </a:rPr>
                        <a:t>$9.99 per month, or $90 per year</a:t>
                      </a:r>
                      <a:endParaRPr lang="en-US" sz="1400" dirty="0">
                        <a:latin typeface="Calibri" charset="0"/>
                        <a:ea typeface="Calibri" charset="0"/>
                        <a:cs typeface="Calibri" charset="0"/>
                      </a:endParaRPr>
                    </a:p>
                  </a:txBody>
                  <a:tcPr marL="109728" marR="109728" marT="91440" marB="91440"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400" dirty="0">
                          <a:solidFill>
                            <a:srgbClr val="0F2A1D"/>
                          </a:solidFill>
                          <a:latin typeface="Calibri" pitchFamily="34" charset="0"/>
                          <a:ea typeface="Calibri" pitchFamily="34" charset="-122"/>
                          <a:cs typeface="Calibri" pitchFamily="34" charset="-120"/>
                        </a:rPr>
                        <a:t>$29.99 per month, or $150 per school year</a:t>
                      </a:r>
                      <a:endParaRPr lang="en-US" sz="1400" dirty="0">
                        <a:latin typeface="Calibri" charset="0"/>
                        <a:ea typeface="Calibri" charset="0"/>
                        <a:cs typeface="Calibri" charset="0"/>
                      </a:endParaRPr>
                    </a:p>
                  </a:txBody>
                  <a:tcPr marL="109728" marR="109728" marT="91440" marB="91440"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r>
              <a:tr h="0">
                <a:tc>
                  <a:txBody>
                    <a:bodyPr/>
                    <a:lstStyle/>
                    <a:p>
                      <a:pPr indent="0" marL="0">
                        <a:buNone/>
                      </a:pPr>
                      <a:r>
                        <a:rPr lang="en-US" sz="1400" b="1" dirty="0">
                          <a:solidFill>
                            <a:srgbClr val="0F2A1D"/>
                          </a:solidFill>
                          <a:latin typeface="Calibri" pitchFamily="34" charset="0"/>
                          <a:ea typeface="Calibri" pitchFamily="34" charset="-122"/>
                          <a:cs typeface="Calibri" pitchFamily="34" charset="-120"/>
                        </a:rPr>
                        <a:t>integrationacademy.ca (9–12)</a:t>
                      </a:r>
                      <a:endParaRPr lang="en-US" sz="1400" dirty="0">
                        <a:latin typeface="Calibri" charset="0"/>
                        <a:ea typeface="Calibri" charset="0"/>
                        <a:cs typeface="Calibri" charset="0"/>
                      </a:endParaRPr>
                    </a:p>
                  </a:txBody>
                  <a:tcPr marL="109728" marR="109728" marT="91440" marB="91440"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400" dirty="0">
                          <a:solidFill>
                            <a:srgbClr val="0F2A1D"/>
                          </a:solidFill>
                          <a:latin typeface="Calibri" pitchFamily="34" charset="0"/>
                          <a:ea typeface="Calibri" pitchFamily="34" charset="-122"/>
                          <a:cs typeface="Calibri" pitchFamily="34" charset="-120"/>
                        </a:rPr>
                        <a:t>$19.99 per month, or $179 per year</a:t>
                      </a:r>
                      <a:endParaRPr lang="en-US" sz="1400" dirty="0">
                        <a:latin typeface="Calibri" charset="0"/>
                        <a:ea typeface="Calibri" charset="0"/>
                        <a:cs typeface="Calibri" charset="0"/>
                      </a:endParaRPr>
                    </a:p>
                  </a:txBody>
                  <a:tcPr marL="109728" marR="109728" marT="91440" marB="91440"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c>
                  <a:txBody>
                    <a:bodyPr/>
                    <a:lstStyle/>
                    <a:p>
                      <a:pPr indent="0" marL="0">
                        <a:buNone/>
                      </a:pPr>
                      <a:r>
                        <a:rPr lang="en-US" sz="1400" dirty="0">
                          <a:solidFill>
                            <a:srgbClr val="0F2A1D"/>
                          </a:solidFill>
                          <a:latin typeface="Calibri" pitchFamily="34" charset="0"/>
                          <a:ea typeface="Calibri" pitchFamily="34" charset="-122"/>
                          <a:cs typeface="Calibri" pitchFamily="34" charset="-120"/>
                        </a:rPr>
                        <a:t>$39.99 per month, or $349 per year</a:t>
                      </a:r>
                      <a:endParaRPr lang="en-US" sz="1400" dirty="0">
                        <a:latin typeface="Calibri" charset="0"/>
                        <a:ea typeface="Calibri" charset="0"/>
                        <a:cs typeface="Calibri" charset="0"/>
                      </a:endParaRPr>
                    </a:p>
                  </a:txBody>
                  <a:tcPr marL="109728" marR="109728" marT="91440" marB="91440" anchor="ctr">
                    <a:lnL w="9525" cap="flat" cmpd="sng" algn="ctr">
                      <a:solidFill>
                        <a:srgbClr val="D3DBCD"/>
                      </a:solidFill>
                      <a:prstDash val="solid"/>
                      <a:round/>
                      <a:headEnd type="none" w="med" len="med"/>
                      <a:tailEnd type="none" w="med" len="med"/>
                    </a:lnL>
                    <a:lnR w="9525" cap="flat" cmpd="sng" algn="ctr">
                      <a:solidFill>
                        <a:srgbClr val="D3DBCD"/>
                      </a:solidFill>
                      <a:prstDash val="solid"/>
                      <a:round/>
                      <a:headEnd type="none" w="med" len="med"/>
                      <a:tailEnd type="none" w="med" len="med"/>
                    </a:lnR>
                    <a:lnT w="9525" cap="flat" cmpd="sng" algn="ctr">
                      <a:solidFill>
                        <a:srgbClr val="D3DBCD"/>
                      </a:solidFill>
                      <a:prstDash val="solid"/>
                      <a:round/>
                      <a:headEnd type="none" w="med" len="med"/>
                      <a:tailEnd type="none" w="med" len="med"/>
                    </a:lnT>
                    <a:lnB w="9525" cap="flat" cmpd="sng" algn="ctr">
                      <a:solidFill>
                        <a:srgbClr val="D3DBCD"/>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457200" y="3291840"/>
            <a:ext cx="8229600" cy="548640"/>
          </a:xfrm>
          <a:prstGeom prst="rect">
            <a:avLst/>
          </a:prstGeom>
          <a:noFill/>
          <a:ln/>
        </p:spPr>
        <p:txBody>
          <a:bodyPr wrap="square" lIns="0" tIns="0" rIns="0" bIns="0" rtlCol="0" anchor="t"/>
          <a:lstStyle/>
          <a:p>
            <a:pPr indent="0" marL="0">
              <a:buNone/>
            </a:pPr>
            <a:r>
              <a:rPr lang="en-US" sz="1400" dirty="0">
                <a:solidFill>
                  <a:schemeClr val="accent5"/>
                </a:solidFill>
              </a:rPr>
              <a:t>Plans are per grade on the K–8 site and per course on the Grade 9–12 site. Prices are as shown on each site’s pricing page.</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457200" y="320040"/>
            <a:ext cx="8229600" cy="731520"/>
          </a:xfrm>
          <a:prstGeom prst="rect">
            <a:avLst/>
          </a:prstGeom>
          <a:noFill/>
          <a:ln/>
        </p:spPr>
        <p:txBody>
          <a:bodyPr wrap="square" lIns="0" tIns="0" rIns="0" bIns="0" rtlCol="0" anchor="ctr"/>
          <a:lstStyle/>
          <a:p>
            <a:pPr algn="l" indent="0" marL="0">
              <a:buNone/>
            </a:pPr>
            <a:r>
              <a:rPr lang="en-US" sz="3000" b="1" dirty="0">
                <a:solidFill>
                  <a:schemeClr val="bg1"/>
                </a:solidFill>
              </a:rPr>
              <a:t>Let’s set up a short presentation</a:t>
            </a:r>
            <a:endParaRPr lang="en-US" sz="3000" dirty="0"/>
          </a:p>
        </p:txBody>
      </p:sp>
      <p:sp>
        <p:nvSpPr>
          <p:cNvPr id="3" name="meeting card"/>
          <p:cNvSpPr/>
          <p:nvPr/>
        </p:nvSpPr>
        <p:spPr>
          <a:xfrm>
            <a:off x="457200" y="1280160"/>
            <a:ext cx="4846320" cy="3108960"/>
          </a:xfrm>
          <a:prstGeom prst="roundRect">
            <a:avLst>
              <a:gd name="adj" fmla="val 2941"/>
            </a:avLst>
          </a:prstGeom>
          <a:solidFill>
            <a:schemeClr val="accent4"/>
          </a:solidFill>
          <a:ln w="12700">
            <a:solidFill>
              <a:srgbClr val="1F4B38"/>
            </a:solidFill>
            <a:prstDash val="solid"/>
          </a:ln>
        </p:spPr>
      </p:sp>
      <p:sp>
        <p:nvSpPr>
          <p:cNvPr id="4" name="Meeting circle"/>
          <p:cNvSpPr/>
          <p:nvPr/>
        </p:nvSpPr>
        <p:spPr>
          <a:xfrm>
            <a:off x="731520" y="1508760"/>
            <a:ext cx="640080" cy="640080"/>
          </a:xfrm>
          <a:prstGeom prst="ellipse">
            <a:avLst/>
          </a:prstGeom>
          <a:solidFill>
            <a:schemeClr val="accent2"/>
          </a:solidFill>
          <a:ln w="12700">
            <a:solidFill>
              <a:schemeClr val="accent2"/>
            </a:solidFill>
            <a:prstDash val="solid"/>
          </a:ln>
        </p:spPr>
      </p:sp>
      <p:pic>
        <p:nvPicPr>
          <p:cNvPr id="5" name="Image 0" descr="Meeting">    </p:cNvPr>
          <p:cNvPicPr>
            <a:picLocks noChangeAspect="1"/>
          </p:cNvPicPr>
          <p:nvPr/>
        </p:nvPicPr>
        <p:blipFill>
          <a:blip r:embed="rId1"/>
          <a:stretch>
            <a:fillRect/>
          </a:stretch>
        </p:blipFill>
        <p:spPr>
          <a:xfrm>
            <a:off x="891540" y="1668780"/>
            <a:ext cx="320040" cy="320040"/>
          </a:xfrm>
          <a:prstGeom prst="rect">
            <a:avLst/>
          </a:prstGeom>
        </p:spPr>
      </p:pic>
      <p:sp>
        <p:nvSpPr>
          <p:cNvPr id="6" name="Text 3"/>
          <p:cNvSpPr txBox="1"/>
          <p:nvPr/>
        </p:nvSpPr>
        <p:spPr>
          <a:xfrm>
            <a:off x="1554480" y="1508760"/>
            <a:ext cx="3566160" cy="640080"/>
          </a:xfrm>
          <a:prstGeom prst="rect">
            <a:avLst/>
          </a:prstGeom>
          <a:noFill/>
          <a:ln/>
        </p:spPr>
        <p:txBody>
          <a:bodyPr wrap="square" lIns="0" tIns="0" rIns="0" bIns="0" rtlCol="0" anchor="ctr"/>
          <a:lstStyle/>
          <a:p>
            <a:pPr indent="0" marL="0">
              <a:buNone/>
            </a:pPr>
            <a:r>
              <a:rPr lang="en-US" sz="1800" b="1" dirty="0">
                <a:solidFill>
                  <a:schemeClr val="accent2"/>
                </a:solidFill>
              </a:rPr>
              <a:t>About 30 minutes, followed by questions</a:t>
            </a:r>
            <a:endParaRPr lang="en-US" sz="1800" dirty="0"/>
          </a:p>
        </p:txBody>
      </p:sp>
      <p:sp>
        <p:nvSpPr>
          <p:cNvPr id="7" name="Text 4"/>
          <p:cNvSpPr txBox="1"/>
          <p:nvPr/>
        </p:nvSpPr>
        <p:spPr>
          <a:xfrm>
            <a:off x="731520" y="2331720"/>
            <a:ext cx="4343400" cy="128016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bg1"/>
                </a:solidFill>
              </a:rPr>
              <a:t>For you, your math leads or your digital learning team</a:t>
            </a:r>
            <a:endParaRPr lang="en-US" sz="1500" dirty="0"/>
          </a:p>
          <a:p>
            <a:pPr marL="342900" indent="-342900">
              <a:spcAft>
                <a:spcPts val="600"/>
              </a:spcAft>
              <a:buSzPct val="100000"/>
              <a:buChar char="•"/>
            </a:pPr>
            <a:r>
              <a:rPr lang="en-US" sz="1500" dirty="0">
                <a:solidFill>
                  <a:schemeClr val="bg1"/>
                </a:solidFill>
              </a:rPr>
              <a:t>Online or in person</a:t>
            </a:r>
            <a:endParaRPr lang="en-US" sz="1500" dirty="0"/>
          </a:p>
          <a:p>
            <a:pPr marL="342900" indent="-342900">
              <a:spcAft>
                <a:spcPts val="600"/>
              </a:spcAft>
              <a:buSzPct val="100000"/>
              <a:buChar char="•"/>
            </a:pPr>
            <a:r>
              <a:rPr lang="en-US" sz="1500" dirty="0">
                <a:solidFill>
                  <a:schemeClr val="bg1"/>
                </a:solidFill>
              </a:rPr>
              <a:t>Available: [days and times, e.g. weekday mornings]</a:t>
            </a:r>
            <a:endParaRPr lang="en-US" sz="1500" dirty="0"/>
          </a:p>
        </p:txBody>
      </p:sp>
      <p:sp>
        <p:nvSpPr>
          <p:cNvPr id="8" name="Text 5"/>
          <p:cNvSpPr txBox="1"/>
          <p:nvPr/>
        </p:nvSpPr>
        <p:spPr>
          <a:xfrm>
            <a:off x="731520" y="3657600"/>
            <a:ext cx="4343400" cy="640080"/>
          </a:xfrm>
          <a:prstGeom prst="rect">
            <a:avLst/>
          </a:prstGeom>
          <a:noFill/>
          <a:ln/>
        </p:spPr>
        <p:txBody>
          <a:bodyPr wrap="square" lIns="0" tIns="0" rIns="0" bIns="0" rtlCol="0" anchor="t"/>
          <a:lstStyle/>
          <a:p>
            <a:pPr indent="0" marL="0">
              <a:buNone/>
            </a:pPr>
            <a:r>
              <a:rPr lang="en-US" sz="1400" dirty="0">
                <a:solidFill>
                  <a:srgbClr val="B7D4C2"/>
                </a:solidFill>
              </a:rPr>
              <a:t>Please let us know a time that suits you, or the best person to contact.</a:t>
            </a:r>
            <a:endParaRPr lang="en-US" sz="1400" dirty="0"/>
          </a:p>
        </p:txBody>
      </p:sp>
      <p:sp>
        <p:nvSpPr>
          <p:cNvPr id="9" name="contact card"/>
          <p:cNvSpPr/>
          <p:nvPr/>
        </p:nvSpPr>
        <p:spPr>
          <a:xfrm>
            <a:off x="5486400" y="1280160"/>
            <a:ext cx="3200400" cy="3108960"/>
          </a:xfrm>
          <a:prstGeom prst="roundRect">
            <a:avLst>
              <a:gd name="adj" fmla="val 2941"/>
            </a:avLst>
          </a:prstGeom>
          <a:solidFill>
            <a:schemeClr val="accent4"/>
          </a:solidFill>
          <a:ln w="12700">
            <a:solidFill>
              <a:srgbClr val="1F4B38"/>
            </a:solidFill>
            <a:prstDash val="solid"/>
          </a:ln>
        </p:spPr>
      </p:sp>
      <p:sp>
        <p:nvSpPr>
          <p:cNvPr id="10" name="Contact circle"/>
          <p:cNvSpPr/>
          <p:nvPr/>
        </p:nvSpPr>
        <p:spPr>
          <a:xfrm>
            <a:off x="5760720" y="1508760"/>
            <a:ext cx="640080" cy="640080"/>
          </a:xfrm>
          <a:prstGeom prst="ellipse">
            <a:avLst/>
          </a:prstGeom>
          <a:solidFill>
            <a:schemeClr val="accent3"/>
          </a:solidFill>
          <a:ln w="12700">
            <a:solidFill>
              <a:schemeClr val="accent3"/>
            </a:solidFill>
            <a:prstDash val="solid"/>
          </a:ln>
        </p:spPr>
      </p:sp>
      <p:pic>
        <p:nvPicPr>
          <p:cNvPr id="11" name="Image 1" descr="Contact">    </p:cNvPr>
          <p:cNvPicPr>
            <a:picLocks noChangeAspect="1"/>
          </p:cNvPicPr>
          <p:nvPr/>
        </p:nvPicPr>
        <p:blipFill>
          <a:blip r:embed="rId2"/>
          <a:stretch>
            <a:fillRect/>
          </a:stretch>
        </p:blipFill>
        <p:spPr>
          <a:xfrm>
            <a:off x="5920740" y="1668780"/>
            <a:ext cx="320040" cy="320040"/>
          </a:xfrm>
          <a:prstGeom prst="rect">
            <a:avLst/>
          </a:prstGeom>
        </p:spPr>
      </p:pic>
      <p:sp>
        <p:nvSpPr>
          <p:cNvPr id="12" name="Text 8"/>
          <p:cNvSpPr txBox="1"/>
          <p:nvPr/>
        </p:nvSpPr>
        <p:spPr>
          <a:xfrm>
            <a:off x="5760720" y="2331720"/>
            <a:ext cx="2743200" cy="1920240"/>
          </a:xfrm>
          <a:prstGeom prst="rect">
            <a:avLst/>
          </a:prstGeom>
          <a:noFill/>
          <a:ln/>
        </p:spPr>
        <p:txBody>
          <a:bodyPr wrap="square" lIns="0" tIns="0" rIns="0" bIns="0" rtlCol="0" anchor="t"/>
          <a:lstStyle/>
          <a:p>
            <a:pPr indent="0" marL="0">
              <a:buNone/>
            </a:pPr>
            <a:r>
              <a:rPr lang="en-US" sz="1400" b="1" dirty="0">
                <a:solidFill>
                  <a:schemeClr val="bg1"/>
                </a:solidFill>
              </a:rPr>
              <a:t>[Your name]</a:t>
            </a:r>
            <a:endParaRPr lang="en-US" sz="1400" dirty="0"/>
          </a:p>
          <a:p>
            <a:pPr indent="0" marL="0">
              <a:buNone/>
            </a:pPr>
            <a:r>
              <a:rPr lang="en-US" sz="1400" dirty="0">
                <a:solidFill>
                  <a:schemeClr val="bg1"/>
                </a:solidFill>
              </a:rPr>
              <a:t>Founder, Integration Academy</a:t>
            </a:r>
            <a:endParaRPr lang="en-US" sz="1400" dirty="0"/>
          </a:p>
          <a:p>
            <a:pPr indent="0" marL="0">
              <a:buNone/>
            </a:pPr>
            <a:r>
              <a:rPr lang="en-US" sz="1400" dirty="0">
                <a:solidFill>
                  <a:schemeClr val="bg1"/>
                </a:solidFill>
              </a:rPr>
              <a:t> </a:t>
            </a:r>
            <a:endParaRPr lang="en-US" sz="1400" dirty="0"/>
          </a:p>
          <a:p>
            <a:pPr indent="0" marL="0">
              <a:buNone/>
            </a:pPr>
            <a:r>
              <a:rPr lang="en-US" sz="1400" dirty="0">
                <a:solidFill>
                  <a:schemeClr val="bg1"/>
                </a:solidFill>
              </a:rPr>
              <a:t>info@integrationacademy.ca</a:t>
            </a:r>
            <a:endParaRPr lang="en-US" sz="1400" dirty="0"/>
          </a:p>
          <a:p>
            <a:pPr indent="0" marL="0">
              <a:buNone/>
            </a:pPr>
            <a:r>
              <a:rPr lang="en-US" sz="1400" dirty="0">
                <a:solidFill>
                  <a:schemeClr val="bg1"/>
                </a:solidFill>
              </a:rPr>
              <a:t>[Phone]</a:t>
            </a:r>
            <a:endParaRPr lang="en-US" sz="1400" dirty="0"/>
          </a:p>
          <a:p>
            <a:pPr indent="0" marL="0">
              <a:buNone/>
            </a:pPr>
            <a:r>
              <a:rPr lang="en-US" sz="1400" dirty="0">
                <a:solidFill>
                  <a:schemeClr val="bg1"/>
                </a:solidFill>
              </a:rPr>
              <a:t> </a:t>
            </a:r>
            <a:endParaRPr lang="en-US" sz="1400" dirty="0"/>
          </a:p>
          <a:p>
            <a:pPr indent="0" marL="0">
              <a:buNone/>
            </a:pPr>
            <a:r>
              <a:rPr lang="en-US" sz="1400" dirty="0">
                <a:solidFill>
                  <a:schemeClr val="bg1"/>
                </a:solidFill>
              </a:rPr>
              <a:t>integrationacademy.org</a:t>
            </a:r>
            <a:endParaRPr lang="en-US" sz="1400" dirty="0"/>
          </a:p>
          <a:p>
            <a:pPr indent="0" marL="0">
              <a:buNone/>
            </a:pPr>
            <a:r>
              <a:rPr lang="en-US" sz="1400" dirty="0">
                <a:solidFill>
                  <a:schemeClr val="bg1"/>
                </a:solidFill>
              </a:rPr>
              <a:t>integrationacademy.ca</a:t>
            </a:r>
            <a:endParaRPr lang="en-US" sz="1400" dirty="0"/>
          </a:p>
        </p:txBody>
      </p:sp>
      <p:sp>
        <p:nvSpPr>
          <p:cNvPr id="25" name="Slide Number Placeholder 0"/>
          <p:cNvSpPr>
            <a:spLocks noGrp="1"/>
          </p:cNvSpPr>
          <p:nvPr>
            <p:ph type="sldNum" sz="quarter" idx="4294967295"/>
          </p:nvPr>
        </p:nvSpPr>
        <p:spPr>
          <a:xfrm>
            <a:off x="8321040" y="4773168"/>
            <a:ext cx="365760" cy="256032"/>
          </a:xfrm>
          <a:prstGeom prst="rect">
            <a:avLst/>
          </a:prstGeom>
          <a:extLst>
            <a:ext uri="{C572A759-6A51-4108-AA02-DFA0A04FC94B}">
              <ma14:wrappingTextBoxFlag xmlns:ma14="http://schemas.microsoft.com/office/mac/drawingml/2011/main" val="0"/>
            </a:ext>
          </a:extLst>
        </p:spPr>
        <p:txBody>
          <a:bodyPr/>
          <a:lstStyle>
            <a:lvl1pPr>
              <a:defRPr sz="1000">
                <a:solidFill>
                  <a:srgbClr val="B7D4C2"/>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1188720"/>
            <a:ext cx="4937760" cy="1371600"/>
          </a:xfrm>
          <a:prstGeom prst="rect">
            <a:avLst/>
          </a:prstGeom>
          <a:noFill/>
          <a:ln/>
        </p:spPr>
        <p:txBody>
          <a:bodyPr wrap="square" lIns="0" tIns="0" rIns="0" bIns="0" rtlCol="0" anchor="t"/>
          <a:lstStyle/>
          <a:p>
            <a:pPr algn="l" indent="0" marL="0">
              <a:buNone/>
            </a:pPr>
            <a:r>
              <a:rPr lang="en-US" sz="4400" b="1" dirty="0">
                <a:solidFill>
                  <a:schemeClr val="bg1"/>
                </a:solidFill>
              </a:rPr>
              <a:t>Try it with one class</a:t>
            </a:r>
            <a:endParaRPr lang="en-US" sz="4400" dirty="0"/>
          </a:p>
        </p:txBody>
      </p:sp>
      <p:sp>
        <p:nvSpPr>
          <p:cNvPr id="3" name="Text 0"/>
          <p:cNvSpPr/>
          <p:nvPr>
            <p:ph idx="101" type="body" hasCustomPrompt="1"/>
          </p:nvPr>
        </p:nvSpPr>
        <p:spPr>
          <a:xfrm>
            <a:off x="548640" y="2697480"/>
            <a:ext cx="4937760" cy="822960"/>
          </a:xfrm>
          <a:prstGeom prst="rect">
            <a:avLst/>
          </a:prstGeom>
          <a:noFill/>
          <a:ln/>
        </p:spPr>
        <p:txBody>
          <a:bodyPr wrap="square" lIns="0" tIns="0" rIns="0" bIns="0" rtlCol="0" anchor="t"/>
          <a:lstStyle/>
          <a:p>
            <a:pPr indent="0" marL="0">
              <a:buNone/>
            </a:pPr>
            <a:r>
              <a:rPr lang="en-US" sz="1800" dirty="0">
                <a:solidFill>
                  <a:srgbClr val="B7D4C2"/>
                </a:solidFill>
              </a:rPr>
              <a:t>Pick the next unit you teach, set up a class on the right site, and see what your students do with it. Thank you.</a:t>
            </a:r>
            <a:endParaRPr lang="en-US" sz="1800" dirty="0"/>
          </a:p>
        </p:txBody>
      </p:sp>
      <p:sp>
        <p:nvSpPr>
          <p:cNvPr id="4" name="Text 2"/>
          <p:cNvSpPr txBox="1"/>
          <p:nvPr/>
        </p:nvSpPr>
        <p:spPr>
          <a:xfrm>
            <a:off x="548640" y="3931920"/>
            <a:ext cx="4937760" cy="320040"/>
          </a:xfrm>
          <a:prstGeom prst="rect">
            <a:avLst/>
          </a:prstGeom>
          <a:noFill/>
          <a:ln/>
        </p:spPr>
        <p:txBody>
          <a:bodyPr wrap="square" lIns="0" tIns="0" rIns="0" bIns="0" rtlCol="0" anchor="ctr"/>
          <a:lstStyle/>
          <a:p>
            <a:pPr indent="0" marL="0">
              <a:buNone/>
            </a:pPr>
            <a:r>
              <a:rPr lang="en-US" sz="1600" b="1" dirty="0">
                <a:solidFill>
                  <a:schemeClr val="accent2"/>
                </a:solidFill>
              </a:rPr>
              <a:t>integrationacademy.org  ·  integrationacademy.ca</a:t>
            </a:r>
            <a:endParaRPr lang="en-US" sz="1600" dirty="0"/>
          </a:p>
        </p:txBody>
      </p:sp>
      <p:sp>
        <p:nvSpPr>
          <p:cNvPr id="5" name="Text 3"/>
          <p:cNvSpPr txBox="1"/>
          <p:nvPr/>
        </p:nvSpPr>
        <p:spPr>
          <a:xfrm>
            <a:off x="548640" y="4297680"/>
            <a:ext cx="4937760" cy="274320"/>
          </a:xfrm>
          <a:prstGeom prst="rect">
            <a:avLst/>
          </a:prstGeom>
          <a:noFill/>
          <a:ln/>
        </p:spPr>
        <p:txBody>
          <a:bodyPr wrap="square" lIns="0" tIns="0" rIns="0" bIns="0" rtlCol="0" anchor="ctr"/>
          <a:lstStyle/>
          <a:p>
            <a:pPr indent="0" marL="0">
              <a:buNone/>
            </a:pPr>
            <a:r>
              <a:rPr lang="en-US" sz="1400" dirty="0">
                <a:solidFill>
                  <a:srgbClr val="B7D4C2"/>
                </a:solidFill>
              </a:rPr>
              <a:t>info@integrationacademy.ca</a:t>
            </a:r>
            <a:endParaRPr lang="en-US" sz="1400" dirty="0"/>
          </a:p>
        </p:txBody>
      </p:sp>
      <p:sp>
        <p:nvSpPr>
          <p:cNvPr id="6" name="closing badge"/>
          <p:cNvSpPr/>
          <p:nvPr/>
        </p:nvSpPr>
        <p:spPr>
          <a:xfrm>
            <a:off x="6035040" y="1097280"/>
            <a:ext cx="2743200" cy="2743200"/>
          </a:xfrm>
          <a:prstGeom prst="ellipse">
            <a:avLst/>
          </a:prstGeom>
          <a:solidFill>
            <a:schemeClr val="accent2"/>
          </a:solidFill>
          <a:ln w="12700">
            <a:solidFill>
              <a:schemeClr val="accent2"/>
            </a:solidFill>
            <a:prstDash val="solid"/>
          </a:ln>
        </p:spPr>
      </p:sp>
      <p:pic>
        <p:nvPicPr>
          <p:cNvPr id="7" name="Image 0" descr="Graduation cap">    </p:cNvPr>
          <p:cNvPicPr>
            <a:picLocks noChangeAspect="1"/>
          </p:cNvPicPr>
          <p:nvPr/>
        </p:nvPicPr>
        <p:blipFill>
          <a:blip r:embed="rId1"/>
          <a:stretch>
            <a:fillRect/>
          </a:stretch>
        </p:blipFill>
        <p:spPr>
          <a:xfrm>
            <a:off x="6812280" y="1874520"/>
            <a:ext cx="1188720" cy="1188720"/>
          </a:xfrm>
          <a:prstGeom prst="rect">
            <a:avLst/>
          </a:prstGeom>
        </p:spPr>
      </p:pic>
    </p:spTree>
  </p:cSld>
  <p:clrMapOvr>
    <a:masterClrMapping/>
  </p:clrMapOvr>
</p:sld>
</file>

<file path=ppt/theme/theme1.xml><?xml version="1.0" encoding="utf-8"?>
<a:theme xmlns:a="http://schemas.openxmlformats.org/drawingml/2006/main" name="Integration Academy">
  <a:themeElements>
    <a:clrScheme name="Integration Academy">
      <a:dk1>
        <a:srgbClr val="0F2A1D"/>
      </a:dk1>
      <a:lt1>
        <a:srgbClr val="FFFFFF"/>
      </a:lt1>
      <a:dk2>
        <a:srgbClr val="0B1F17"/>
      </a:dk2>
      <a:lt2>
        <a:srgbClr val="EEF2EA"/>
      </a:lt2>
      <a:accent1>
        <a:srgbClr val="17803F"/>
      </a:accent1>
      <a:accent2>
        <a:srgbClr val="2FBF71"/>
      </a:accent2>
      <a:accent3>
        <a:srgbClr val="F2B84B"/>
      </a:accent3>
      <a:accent4>
        <a:srgbClr val="123326"/>
      </a:accent4>
      <a:accent5>
        <a:srgbClr val="4B6154"/>
      </a:accent5>
      <a:accent6>
        <a:srgbClr val="9A5B00"/>
      </a:accent6>
      <a:hlink>
        <a:srgbClr val="17803F"/>
      </a:hlink>
      <a:folHlink>
        <a:srgbClr val="4B6154"/>
      </a:folHlink>
    </a:clrScheme>
    <a:fontScheme name="Integration Academ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Integration Academy for Teachers</dc:title>
  <dc:subject>PptxGenJS Presentation</dc:subject>
  <dc:creator>Integration Academy</dc:creator>
  <cp:lastModifiedBy>Integration Academy</cp:lastModifiedBy>
  <cp:revision>1</cp:revision>
  <dcterms:created xsi:type="dcterms:W3CDTF">2026-10-16T11:38:18Z</dcterms:created>
  <dcterms:modified xsi:type="dcterms:W3CDTF">2026-10-16T11:38:18Z</dcterms:modified>
</cp:coreProperties>
</file>